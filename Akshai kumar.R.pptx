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22"/>
  </p:notesMasterIdLst>
  <p:sldIdLst>
    <p:sldId id="256" r:id="rId2"/>
    <p:sldId id="257" r:id="rId3"/>
    <p:sldId id="258" r:id="rId4"/>
    <p:sldId id="259" r:id="rId5"/>
    <p:sldId id="260" r:id="rId6"/>
    <p:sldId id="269" r:id="rId7"/>
    <p:sldId id="270" r:id="rId8"/>
    <p:sldId id="264" r:id="rId9"/>
    <p:sldId id="263" r:id="rId10"/>
    <p:sldId id="262" r:id="rId11"/>
    <p:sldId id="261" r:id="rId12"/>
    <p:sldId id="265" r:id="rId13"/>
    <p:sldId id="266" r:id="rId14"/>
    <p:sldId id="267" r:id="rId15"/>
    <p:sldId id="268" r:id="rId16"/>
    <p:sldId id="272" r:id="rId17"/>
    <p:sldId id="271" r:id="rId18"/>
    <p:sldId id="273" r:id="rId19"/>
    <p:sldId id="274" r:id="rId20"/>
    <p:sldId id="275"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43" autoAdjust="0"/>
    <p:restoredTop sz="94660"/>
  </p:normalViewPr>
  <p:slideViewPr>
    <p:cSldViewPr snapToGrid="0">
      <p:cViewPr varScale="1">
        <p:scale>
          <a:sx n="90" d="100"/>
          <a:sy n="90" d="100"/>
        </p:scale>
        <p:origin x="403"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C68816-C90B-4101-BD10-2512C1F5F8E2}" type="datetimeFigureOut">
              <a:rPr lang="en-US" smtClean="0"/>
              <a:t>3/13/2026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3CDC790-EBB9-4A53-9946-6C1BA2DDFB8E}" type="slidenum">
              <a:rPr lang="en-US" smtClean="0"/>
              <a:t>‹#›</a:t>
            </a:fld>
            <a:endParaRPr lang="en-US"/>
          </a:p>
        </p:txBody>
      </p:sp>
    </p:spTree>
    <p:extLst>
      <p:ext uri="{BB962C8B-B14F-4D97-AF65-F5344CB8AC3E}">
        <p14:creationId xmlns:p14="http://schemas.microsoft.com/office/powerpoint/2010/main" val="33102795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3CDC790-EBB9-4A53-9946-6C1BA2DDFB8E}" type="slidenum">
              <a:rPr lang="en-US" smtClean="0"/>
              <a:t>10</a:t>
            </a:fld>
            <a:endParaRPr lang="en-US"/>
          </a:p>
        </p:txBody>
      </p:sp>
    </p:spTree>
    <p:extLst>
      <p:ext uri="{BB962C8B-B14F-4D97-AF65-F5344CB8AC3E}">
        <p14:creationId xmlns:p14="http://schemas.microsoft.com/office/powerpoint/2010/main" val="288272332"/>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en-US"/>
              <a:t>Click to edit Master title style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9A322AF-B60A-483F-92B3-006A0BDE1A93}" type="datetime1">
              <a:rPr lang="en-US" smtClean="0"/>
              <a:t>3/13/2026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879B03D1-D577-4587-B01C-F506E694E506}" type="slidenum">
              <a:rPr lang="en-US" smtClean="0"/>
              <a:t>‹#›</a:t>
            </a:fld>
            <a:endParaRPr lang="en-US"/>
          </a:p>
        </p:txBody>
      </p:sp>
    </p:spTree>
    <p:extLst>
      <p:ext uri="{BB962C8B-B14F-4D97-AF65-F5344CB8AC3E}">
        <p14:creationId xmlns:p14="http://schemas.microsoft.com/office/powerpoint/2010/main" val="14617934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7FB1230-6019-4BE0-94BE-9A5F6F954C07}" type="datetime1">
              <a:rPr lang="en-US" smtClean="0"/>
              <a:t>3/13/2026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9B03D1-D577-4587-B01C-F506E694E506}" type="slidenum">
              <a:rPr lang="en-US" smtClean="0"/>
              <a:t>‹#›</a:t>
            </a:fld>
            <a:endParaRPr lang="en-US"/>
          </a:p>
        </p:txBody>
      </p:sp>
    </p:spTree>
    <p:extLst>
      <p:ext uri="{BB962C8B-B14F-4D97-AF65-F5344CB8AC3E}">
        <p14:creationId xmlns:p14="http://schemas.microsoft.com/office/powerpoint/2010/main" val="38271887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n-US"/>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593667" y="6272784"/>
            <a:ext cx="2644309" cy="365125"/>
          </a:xfrm>
        </p:spPr>
        <p:txBody>
          <a:bodyPr/>
          <a:lstStyle/>
          <a:p>
            <a:fld id="{B69D2FFA-BB41-4CBD-BFF1-1E190E485CFA}" type="datetime1">
              <a:rPr lang="en-US" smtClean="0"/>
              <a:t>3/13/2026</a:t>
            </a:fld>
            <a:endParaRPr lang="en-US"/>
          </a:p>
        </p:txBody>
      </p:sp>
      <p:sp>
        <p:nvSpPr>
          <p:cNvPr id="5" name="Footer Placeholder 4"/>
          <p:cNvSpPr>
            <a:spLocks noGrp="1"/>
          </p:cNvSpPr>
          <p:nvPr>
            <p:ph type="ftr" sz="quarter" idx="11"/>
          </p:nvPr>
        </p:nvSpPr>
        <p:spPr>
          <a:xfrm>
            <a:off x="2182708" y="6272784"/>
            <a:ext cx="6327648" cy="365125"/>
          </a:xfrm>
        </p:spPr>
        <p:txBody>
          <a:bodyPr/>
          <a:lstStyle/>
          <a:p>
            <a:endParaRPr lang="en-US"/>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879B03D1-D577-4587-B01C-F506E694E506}" type="slidenum">
              <a:rPr lang="en-US" smtClean="0"/>
              <a:t>‹#›</a:t>
            </a:fld>
            <a:endParaRPr lang="en-US"/>
          </a:p>
        </p:txBody>
      </p:sp>
    </p:spTree>
    <p:extLst>
      <p:ext uri="{BB962C8B-B14F-4D97-AF65-F5344CB8AC3E}">
        <p14:creationId xmlns:p14="http://schemas.microsoft.com/office/powerpoint/2010/main" val="19393019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9245484-11EF-41D9-9488-7506F80E9BD3}" type="datetime1">
              <a:rPr lang="en-US" smtClean="0"/>
              <a:t>3/13/2026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79B03D1-D577-4587-B01C-F506E694E506}" type="slidenum">
              <a:rPr lang="en-US" smtClean="0"/>
              <a:t>‹#›</a:t>
            </a:fld>
            <a:endParaRPr lang="en-US"/>
          </a:p>
        </p:txBody>
      </p:sp>
    </p:spTree>
    <p:extLst>
      <p:ext uri="{BB962C8B-B14F-4D97-AF65-F5344CB8AC3E}">
        <p14:creationId xmlns:p14="http://schemas.microsoft.com/office/powerpoint/2010/main" val="33186248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99FA287-8EC0-4794-90DC-25BBD1D07900}" type="datetime1">
              <a:rPr lang="en-US" smtClean="0"/>
              <a:t>3/13/2026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79B03D1-D577-4587-B01C-F506E694E506}" type="slidenum">
              <a:rPr lang="en-US" smtClean="0"/>
              <a:t>‹#›</a:t>
            </a:fld>
            <a:endParaRPr lang="en-US"/>
          </a:p>
        </p:txBody>
      </p:sp>
    </p:spTree>
    <p:extLst>
      <p:ext uri="{BB962C8B-B14F-4D97-AF65-F5344CB8AC3E}">
        <p14:creationId xmlns:p14="http://schemas.microsoft.com/office/powerpoint/2010/main" val="7329390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D712203-06CB-47D5-8BC3-259998E03258}" type="datetime1">
              <a:rPr lang="en-US" smtClean="0"/>
              <a:t>3/13/2026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79B03D1-D577-4587-B01C-F506E694E506}" type="slidenum">
              <a:rPr lang="en-US" smtClean="0"/>
              <a:t>‹#›</a:t>
            </a:fld>
            <a:endParaRPr lang="en-US"/>
          </a:p>
        </p:txBody>
      </p:sp>
    </p:spTree>
    <p:extLst>
      <p:ext uri="{BB962C8B-B14F-4D97-AF65-F5344CB8AC3E}">
        <p14:creationId xmlns:p14="http://schemas.microsoft.com/office/powerpoint/2010/main" val="40647598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7A42739-5527-4D84-BDE0-133BE9B00132}" type="datetime1">
              <a:rPr lang="en-US" smtClean="0"/>
              <a:t>3/13/2026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79B03D1-D577-4587-B01C-F506E694E506}" type="slidenum">
              <a:rPr lang="en-US" smtClean="0"/>
              <a:t>‹#›</a:t>
            </a:fld>
            <a:endParaRPr lang="en-US"/>
          </a:p>
        </p:txBody>
      </p:sp>
    </p:spTree>
    <p:extLst>
      <p:ext uri="{BB962C8B-B14F-4D97-AF65-F5344CB8AC3E}">
        <p14:creationId xmlns:p14="http://schemas.microsoft.com/office/powerpoint/2010/main" val="13949396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E091D85-B70E-4D3F-904B-820BC1433AEC}" type="datetime1">
              <a:rPr lang="en-US" smtClean="0"/>
              <a:t>3/13/2026</a:t>
            </a:fld>
            <a:endParaRPr lang="en-US"/>
          </a:p>
        </p:txBody>
      </p:sp>
      <p:sp>
        <p:nvSpPr>
          <p:cNvPr id="6" name="Footer Placeholder 5"/>
          <p:cNvSpPr>
            <a:spLocks noGrp="1"/>
          </p:cNvSpPr>
          <p:nvPr>
            <p:ph type="ftr" sz="quarter" idx="11"/>
          </p:nvPr>
        </p:nvSpPr>
        <p:spPr/>
        <p:txBody>
          <a:bodyPr/>
          <a:lstStyle/>
          <a:p>
            <a:endParaRPr lang="en-US"/>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879B03D1-D577-4587-B01C-F506E694E506}" type="slidenum">
              <a:rPr lang="en-US" smtClean="0"/>
              <a:t>‹#›</a:t>
            </a:fld>
            <a:endParaRPr lang="en-US"/>
          </a:p>
        </p:txBody>
      </p:sp>
    </p:spTree>
    <p:extLst>
      <p:ext uri="{BB962C8B-B14F-4D97-AF65-F5344CB8AC3E}">
        <p14:creationId xmlns:p14="http://schemas.microsoft.com/office/powerpoint/2010/main" val="28978995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F3D410D-837A-4207-90BD-91C079E1C9E6}" type="datetime1">
              <a:rPr lang="en-US" smtClean="0"/>
              <a:t>3/13/2026</a:t>
            </a:fld>
            <a:endParaRPr lang="en-US"/>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879B03D1-D577-4587-B01C-F506E694E506}" type="slidenum">
              <a:rPr lang="en-US" smtClean="0"/>
              <a:t>‹#›</a:t>
            </a:fld>
            <a:endParaRPr lang="en-US"/>
          </a:p>
        </p:txBody>
      </p:sp>
    </p:spTree>
    <p:extLst>
      <p:ext uri="{BB962C8B-B14F-4D97-AF65-F5344CB8AC3E}">
        <p14:creationId xmlns:p14="http://schemas.microsoft.com/office/powerpoint/2010/main" val="13837091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55FB96-C0B9-41CC-A995-BD1B5BFC56B1}" type="datetime1">
              <a:rPr lang="en-US" smtClean="0"/>
              <a:t>3/13/2026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9B03D1-D577-4587-B01C-F506E694E506}" type="slidenum">
              <a:rPr lang="en-US" smtClean="0"/>
              <a:t>‹#›</a:t>
            </a:fld>
            <a:endParaRPr lang="en-US"/>
          </a:p>
        </p:txBody>
      </p:sp>
    </p:spTree>
    <p:extLst>
      <p:ext uri="{BB962C8B-B14F-4D97-AF65-F5344CB8AC3E}">
        <p14:creationId xmlns:p14="http://schemas.microsoft.com/office/powerpoint/2010/main" val="37381418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0A4E313-D22F-410C-AC52-7ED9C6C13270}" type="datetime1">
              <a:rPr lang="en-US" smtClean="0"/>
              <a:t>3/13/2026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9B03D1-D577-4587-B01C-F506E694E506}" type="slidenum">
              <a:rPr lang="en-US" smtClean="0"/>
              <a:t>‹#›</a:t>
            </a:fld>
            <a:endParaRPr lang="en-US"/>
          </a:p>
        </p:txBody>
      </p:sp>
    </p:spTree>
    <p:extLst>
      <p:ext uri="{BB962C8B-B14F-4D97-AF65-F5344CB8AC3E}">
        <p14:creationId xmlns:p14="http://schemas.microsoft.com/office/powerpoint/2010/main" val="23141918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CEC06D63-2BCA-4732-983A-F134391CA8A6}" type="datetime1">
              <a:rPr lang="en-US" smtClean="0"/>
              <a:t>3/13/2026</a:t>
            </a:fld>
            <a:endParaRPr lang="en-US"/>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US"/>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879B03D1-D577-4587-B01C-F506E694E506}" type="slidenum">
              <a:rPr lang="en-US" smtClean="0"/>
              <a:t>‹#›</a:t>
            </a:fld>
            <a:endParaRPr lang="en-US"/>
          </a:p>
        </p:txBody>
      </p:sp>
    </p:spTree>
    <p:extLst>
      <p:ext uri="{BB962C8B-B14F-4D97-AF65-F5344CB8AC3E}">
        <p14:creationId xmlns:p14="http://schemas.microsoft.com/office/powerpoint/2010/main" val="313806616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540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em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2E1716-CDA6-B7D8-576D-69D1A3AE06D5}"/>
              </a:ext>
            </a:extLst>
          </p:cNvPr>
          <p:cNvSpPr>
            <a:spLocks noGrp="1"/>
          </p:cNvSpPr>
          <p:nvPr>
            <p:ph type="ctrTitle"/>
          </p:nvPr>
        </p:nvSpPr>
        <p:spPr>
          <a:xfrm>
            <a:off x="975360" y="1385185"/>
            <a:ext cx="9966960" cy="3035808"/>
          </a:xfrm>
        </p:spPr>
        <p:txBody>
          <a:bodyPr/>
          <a:lstStyle/>
          <a:p>
            <a:r>
              <a:rPr lang="en-US" sz="3200" dirty="0">
                <a:latin typeface="Times New Roman" panose="02020603050405020304" pitchFamily="18" charset="0"/>
                <a:cs typeface="Times New Roman" panose="02020603050405020304" pitchFamily="18" charset="0"/>
              </a:rPr>
              <a:t>Computational Identification of Differentially Expressed Genes and Pathways Associated with Hypertrophic Cardiomyopathy </a:t>
            </a:r>
            <a:r>
              <a:rPr lang="en-US" sz="3200" dirty="0">
                <a:latin typeface="Times New Roman" panose="02020603050405020304" pitchFamily="18" charset="0"/>
                <a:ea typeface="Tahoma" panose="020B0604030504040204" pitchFamily="34" charset="0"/>
                <a:cs typeface="Times New Roman" panose="02020603050405020304" pitchFamily="18" charset="0"/>
              </a:rPr>
              <a:t>Using R</a:t>
            </a:r>
          </a:p>
        </p:txBody>
      </p:sp>
      <p:sp>
        <p:nvSpPr>
          <p:cNvPr id="3" name="Subtitle 2">
            <a:extLst>
              <a:ext uri="{FF2B5EF4-FFF2-40B4-BE49-F238E27FC236}">
                <a16:creationId xmlns:a16="http://schemas.microsoft.com/office/drawing/2014/main" id="{039D3EE4-6B7A-5E97-DCE0-EBDBAC3C753F}"/>
              </a:ext>
            </a:extLst>
          </p:cNvPr>
          <p:cNvSpPr>
            <a:spLocks noGrp="1"/>
          </p:cNvSpPr>
          <p:nvPr>
            <p:ph type="subTitle" idx="1"/>
          </p:nvPr>
        </p:nvSpPr>
        <p:spPr>
          <a:xfrm>
            <a:off x="6499321" y="4350510"/>
            <a:ext cx="6604000" cy="1778000"/>
          </a:xfrm>
        </p:spPr>
        <p:txBody>
          <a:bodyPr>
            <a:noAutofit/>
          </a:bodyPr>
          <a:lstStyle/>
          <a:p>
            <a:pPr algn="just"/>
            <a:r>
              <a:rPr lang="en-US" sz="2000" b="1" dirty="0">
                <a:solidFill>
                  <a:schemeClr val="accent6">
                    <a:lumMod val="50000"/>
                  </a:schemeClr>
                </a:solidFill>
                <a:latin typeface="Times New Roman" panose="02020603050405020304" pitchFamily="18" charset="0"/>
                <a:ea typeface="Cambria" pitchFamily="18" charset="0"/>
                <a:cs typeface="Times New Roman" panose="02020603050405020304" pitchFamily="18" charset="0"/>
              </a:rPr>
              <a:t>PRESENTED BY</a:t>
            </a:r>
          </a:p>
          <a:p>
            <a:pPr algn="just"/>
            <a:r>
              <a:rPr lang="en-US" sz="2000" dirty="0">
                <a:latin typeface="Times New Roman" panose="02020603050405020304" pitchFamily="18" charset="0"/>
                <a:ea typeface="Cambria" pitchFamily="18" charset="0"/>
                <a:cs typeface="Times New Roman" panose="02020603050405020304" pitchFamily="18" charset="0"/>
              </a:rPr>
              <a:t>R. AKSHAI KUMAR,</a:t>
            </a:r>
          </a:p>
          <a:p>
            <a:pPr algn="just"/>
            <a:r>
              <a:rPr lang="en-US" sz="2000" dirty="0">
                <a:latin typeface="Times New Roman" panose="02020603050405020304" pitchFamily="18" charset="0"/>
                <a:ea typeface="Cambria" pitchFamily="18" charset="0"/>
                <a:cs typeface="Times New Roman" panose="02020603050405020304" pitchFamily="18" charset="0"/>
              </a:rPr>
              <a:t>IV yr M.Sc. Bioinformatics (Integrated),</a:t>
            </a:r>
          </a:p>
          <a:p>
            <a:pPr algn="just"/>
            <a:r>
              <a:rPr lang="en-US" sz="2000" dirty="0">
                <a:latin typeface="Times New Roman" panose="02020603050405020304" pitchFamily="18" charset="0"/>
                <a:ea typeface="Cambria" pitchFamily="18" charset="0"/>
                <a:cs typeface="Times New Roman" panose="02020603050405020304" pitchFamily="18" charset="0"/>
              </a:rPr>
              <a:t>Department of Bioinformatics,</a:t>
            </a:r>
          </a:p>
          <a:p>
            <a:pPr algn="just"/>
            <a:r>
              <a:rPr lang="en-US" sz="2000" dirty="0">
                <a:latin typeface="Times New Roman" panose="02020603050405020304" pitchFamily="18" charset="0"/>
                <a:ea typeface="Cambria" pitchFamily="18" charset="0"/>
                <a:cs typeface="Times New Roman" panose="02020603050405020304" pitchFamily="18" charset="0"/>
              </a:rPr>
              <a:t>Bharathidasan University,</a:t>
            </a:r>
          </a:p>
          <a:p>
            <a:pPr algn="just"/>
            <a:r>
              <a:rPr lang="en-US" sz="2000" dirty="0">
                <a:latin typeface="Times New Roman" panose="02020603050405020304" pitchFamily="18" charset="0"/>
                <a:ea typeface="Cambria" pitchFamily="18" charset="0"/>
                <a:cs typeface="Times New Roman" panose="02020603050405020304" pitchFamily="18" charset="0"/>
              </a:rPr>
              <a:t>Trichy -24</a:t>
            </a:r>
            <a:r>
              <a:rPr lang="en-US" sz="2000" dirty="0">
                <a:solidFill>
                  <a:srgbClr val="002060"/>
                </a:solidFill>
                <a:latin typeface="Times New Roman" panose="02020603050405020304" pitchFamily="18" charset="0"/>
                <a:ea typeface="Cambria" pitchFamily="18" charset="0"/>
                <a:cs typeface="Times New Roman" panose="02020603050405020304" pitchFamily="18" charset="0"/>
              </a:rPr>
              <a:t>.</a:t>
            </a:r>
            <a:r>
              <a:rPr lang="en-US" sz="2000" dirty="0">
                <a:solidFill>
                  <a:srgbClr val="C00000"/>
                </a:solidFill>
                <a:latin typeface="Times New Roman" panose="02020603050405020304" pitchFamily="18" charset="0"/>
                <a:ea typeface="Cambria" pitchFamily="18" charset="0"/>
                <a:cs typeface="Times New Roman" panose="02020603050405020304" pitchFamily="18" charset="0"/>
              </a:rPr>
              <a:t> </a:t>
            </a:r>
          </a:p>
        </p:txBody>
      </p:sp>
      <p:pic>
        <p:nvPicPr>
          <p:cNvPr id="6" name="Picture 5">
            <a:extLst>
              <a:ext uri="{FF2B5EF4-FFF2-40B4-BE49-F238E27FC236}">
                <a16:creationId xmlns:a16="http://schemas.microsoft.com/office/drawing/2014/main" id="{E28E48D2-A422-4C94-7414-FBAFBAD83061}"/>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35242" t="11818" r="26245" b="11356"/>
          <a:stretch>
            <a:fillRect/>
          </a:stretch>
        </p:blipFill>
        <p:spPr bwMode="auto">
          <a:xfrm>
            <a:off x="2697788" y="52944"/>
            <a:ext cx="1501679" cy="12910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TextBox 6">
            <a:extLst>
              <a:ext uri="{FF2B5EF4-FFF2-40B4-BE49-F238E27FC236}">
                <a16:creationId xmlns:a16="http://schemas.microsoft.com/office/drawing/2014/main" id="{E6A118B7-7A53-3FD0-E77A-41E3B0CC8113}"/>
              </a:ext>
            </a:extLst>
          </p:cNvPr>
          <p:cNvSpPr txBox="1"/>
          <p:nvPr/>
        </p:nvSpPr>
        <p:spPr>
          <a:xfrm>
            <a:off x="4030133" y="143699"/>
            <a:ext cx="4504267" cy="1200329"/>
          </a:xfrm>
          <a:prstGeom prst="rect">
            <a:avLst/>
          </a:prstGeom>
          <a:noFill/>
        </p:spPr>
        <p:txBody>
          <a:bodyPr wrap="square" rtlCol="0">
            <a:spAutoFit/>
          </a:bodyPr>
          <a:lstStyle/>
          <a:p>
            <a:pPr algn="ctr"/>
            <a:r>
              <a:rPr lang="en-US" dirty="0">
                <a:latin typeface="Times New Roman" panose="02020603050405020304" pitchFamily="18" charset="0"/>
                <a:cs typeface="Times New Roman" panose="02020603050405020304" pitchFamily="18" charset="0"/>
              </a:rPr>
              <a:t>DEPARTMENT OF BIOINFORMATICS </a:t>
            </a:r>
          </a:p>
          <a:p>
            <a:pPr algn="ctr"/>
            <a:r>
              <a:rPr lang="en-US" dirty="0">
                <a:latin typeface="Times New Roman" panose="02020603050405020304" pitchFamily="18" charset="0"/>
                <a:cs typeface="Times New Roman" panose="02020603050405020304" pitchFamily="18" charset="0"/>
              </a:rPr>
              <a:t>SCHOOL OF LIFE SCIENCES </a:t>
            </a:r>
          </a:p>
          <a:p>
            <a:pPr algn="ctr"/>
            <a:r>
              <a:rPr lang="en-US" dirty="0">
                <a:latin typeface="Times New Roman" panose="02020603050405020304" pitchFamily="18" charset="0"/>
                <a:cs typeface="Times New Roman" panose="02020603050405020304" pitchFamily="18" charset="0"/>
              </a:rPr>
              <a:t>BHARATHIDASAN UNIVERSITY </a:t>
            </a:r>
          </a:p>
          <a:p>
            <a:pPr algn="ctr"/>
            <a:r>
              <a:rPr lang="en-US" dirty="0">
                <a:latin typeface="Times New Roman" panose="02020603050405020304" pitchFamily="18" charset="0"/>
                <a:cs typeface="Times New Roman" panose="02020603050405020304" pitchFamily="18" charset="0"/>
              </a:rPr>
              <a:t>TIRUCHIRAPALLI-620024</a:t>
            </a:r>
          </a:p>
        </p:txBody>
      </p:sp>
      <p:pic>
        <p:nvPicPr>
          <p:cNvPr id="2050" name="Picture 2">
            <a:extLst>
              <a:ext uri="{FF2B5EF4-FFF2-40B4-BE49-F238E27FC236}">
                <a16:creationId xmlns:a16="http://schemas.microsoft.com/office/drawing/2014/main" id="{B6D17F44-9A7A-FA5F-1E89-193AE6C0814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38899" y="1618490"/>
            <a:ext cx="1806842" cy="23608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783682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C7A4240-2F93-C8F2-5B23-2F48CFD71A3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97781" y="135424"/>
            <a:ext cx="2633387" cy="1300235"/>
          </a:xfrm>
          <a:prstGeom prst="rect">
            <a:avLst/>
          </a:prstGeom>
        </p:spPr>
      </p:pic>
      <p:sp>
        <p:nvSpPr>
          <p:cNvPr id="2" name="Title 1">
            <a:extLst>
              <a:ext uri="{FF2B5EF4-FFF2-40B4-BE49-F238E27FC236}">
                <a16:creationId xmlns:a16="http://schemas.microsoft.com/office/drawing/2014/main" id="{DD2D9E7E-126F-9EE4-6D81-B5803051E8C2}"/>
              </a:ext>
            </a:extLst>
          </p:cNvPr>
          <p:cNvSpPr>
            <a:spLocks noGrp="1"/>
          </p:cNvSpPr>
          <p:nvPr>
            <p:ph type="title"/>
          </p:nvPr>
        </p:nvSpPr>
        <p:spPr>
          <a:xfrm>
            <a:off x="939800" y="262466"/>
            <a:ext cx="10515600" cy="707814"/>
          </a:xfrm>
        </p:spPr>
        <p:txBody>
          <a:bodyPr>
            <a:normAutofit/>
          </a:bodyPr>
          <a:lstStyle/>
          <a:p>
            <a:pPr algn="ctr"/>
            <a:r>
              <a:rPr lang="en-US" sz="3600" dirty="0">
                <a:latin typeface="Times New Roman" panose="02020603050405020304" pitchFamily="18" charset="0"/>
                <a:cs typeface="Times New Roman" panose="02020603050405020304" pitchFamily="18" charset="0"/>
              </a:rPr>
              <a:t>INTRODUCTION</a:t>
            </a:r>
          </a:p>
        </p:txBody>
      </p:sp>
      <p:sp>
        <p:nvSpPr>
          <p:cNvPr id="3" name="Content Placeholder 2">
            <a:extLst>
              <a:ext uri="{FF2B5EF4-FFF2-40B4-BE49-F238E27FC236}">
                <a16:creationId xmlns:a16="http://schemas.microsoft.com/office/drawing/2014/main" id="{D671DB8F-741C-69BE-E136-6BCFAAA996DD}"/>
              </a:ext>
            </a:extLst>
          </p:cNvPr>
          <p:cNvSpPr>
            <a:spLocks noGrp="1"/>
          </p:cNvSpPr>
          <p:nvPr>
            <p:ph idx="1"/>
          </p:nvPr>
        </p:nvSpPr>
        <p:spPr>
          <a:xfrm>
            <a:off x="596899" y="1392280"/>
            <a:ext cx="10795000" cy="5330296"/>
          </a:xfrm>
        </p:spPr>
        <p:txBody>
          <a:bodyPr>
            <a:normAutofit/>
          </a:bodyPr>
          <a:lstStyle/>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Hypertrophic Cardiomyopathy (HCM) is one of the most common inherited cardiovascular disorders, affecting approximately 1 in 500 individuals worldwide. </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It is primarily characterized by abnormal thickening (hypertrophy) of the heart muscle, especially the left ventricular wall and interventricular septum. </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Investigating gene expression changes in Hypertrophic Cardiomyopathy helps identify significantly expressed genes and the biological pathways that contribute to disease development and progression.</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 availability of high-throughput transcriptomic datasets in public repositories such as the Gene Expression Omnibus (GEO) allows researchers to analyze gene expression patterns and identify genes associated with disease mechanisms.</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In this study, I analyzed an HCM gene expression dataset obtained from GEO to identify differentially expressed genes (DEGs) between HCM and normal samples. </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Differential expression analysis was performed using DESeq2 package, followed by KEGG pathway enrichment analysis using clusterprofiler package to determine the biological pathways involved in the disease.</a:t>
            </a:r>
          </a:p>
        </p:txBody>
      </p:sp>
      <p:sp>
        <p:nvSpPr>
          <p:cNvPr id="5" name="Slide Number Placeholder 4">
            <a:extLst>
              <a:ext uri="{FF2B5EF4-FFF2-40B4-BE49-F238E27FC236}">
                <a16:creationId xmlns:a16="http://schemas.microsoft.com/office/drawing/2014/main" id="{517FE6DF-AE5D-C99A-3975-361019F69059}"/>
              </a:ext>
            </a:extLst>
          </p:cNvPr>
          <p:cNvSpPr>
            <a:spLocks noGrp="1"/>
          </p:cNvSpPr>
          <p:nvPr>
            <p:ph type="sldNum" sz="quarter" idx="12"/>
          </p:nvPr>
        </p:nvSpPr>
        <p:spPr>
          <a:xfrm>
            <a:off x="11311128" y="6230409"/>
            <a:ext cx="640080" cy="365125"/>
          </a:xfrm>
        </p:spPr>
        <p:txBody>
          <a:bodyPr/>
          <a:lstStyle/>
          <a:p>
            <a:fld id="{879B03D1-D577-4587-B01C-F506E694E506}" type="slidenum">
              <a:rPr lang="en-US" smtClean="0"/>
              <a:t>2</a:t>
            </a:fld>
            <a:endParaRPr lang="en-US" dirty="0"/>
          </a:p>
        </p:txBody>
      </p:sp>
    </p:spTree>
    <p:extLst>
      <p:ext uri="{BB962C8B-B14F-4D97-AF65-F5344CB8AC3E}">
        <p14:creationId xmlns:p14="http://schemas.microsoft.com/office/powerpoint/2010/main" val="15472810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D538CD-491D-8421-651E-C7CD802FE06B}"/>
              </a:ext>
            </a:extLst>
          </p:cNvPr>
          <p:cNvSpPr>
            <a:spLocks noGrp="1"/>
          </p:cNvSpPr>
          <p:nvPr>
            <p:ph type="title"/>
          </p:nvPr>
        </p:nvSpPr>
        <p:spPr>
          <a:xfrm>
            <a:off x="838200" y="80433"/>
            <a:ext cx="10515599" cy="760942"/>
          </a:xfrm>
        </p:spPr>
        <p:txBody>
          <a:bodyPr>
            <a:normAutofit/>
          </a:bodyPr>
          <a:lstStyle/>
          <a:p>
            <a:pPr algn="ctr"/>
            <a:r>
              <a:rPr lang="en-US" sz="3600" dirty="0">
                <a:latin typeface="Times New Roman" panose="02020603050405020304" pitchFamily="18" charset="0"/>
                <a:cs typeface="Times New Roman" panose="02020603050405020304" pitchFamily="18" charset="0"/>
              </a:rPr>
              <a:t>AIM &amp; OBJECTIVE</a:t>
            </a:r>
          </a:p>
        </p:txBody>
      </p:sp>
      <p:sp>
        <p:nvSpPr>
          <p:cNvPr id="3" name="Content Placeholder 2">
            <a:extLst>
              <a:ext uri="{FF2B5EF4-FFF2-40B4-BE49-F238E27FC236}">
                <a16:creationId xmlns:a16="http://schemas.microsoft.com/office/drawing/2014/main" id="{B45A2CFE-7C98-286E-DAC4-A69FE5167DA7}"/>
              </a:ext>
            </a:extLst>
          </p:cNvPr>
          <p:cNvSpPr>
            <a:spLocks noGrp="1"/>
          </p:cNvSpPr>
          <p:nvPr>
            <p:ph idx="1"/>
          </p:nvPr>
        </p:nvSpPr>
        <p:spPr>
          <a:xfrm>
            <a:off x="626533" y="1168400"/>
            <a:ext cx="10998200" cy="5308600"/>
          </a:xfrm>
        </p:spPr>
        <p:txBody>
          <a:bodyPr>
            <a:normAutofit lnSpcReduction="10000"/>
          </a:bodyPr>
          <a:lstStyle/>
          <a:p>
            <a:pPr marL="0" indent="0">
              <a:buNone/>
            </a:pPr>
            <a:r>
              <a:rPr lang="en-US" sz="2200" b="1" dirty="0">
                <a:solidFill>
                  <a:schemeClr val="accent5">
                    <a:lumMod val="75000"/>
                  </a:schemeClr>
                </a:solidFill>
                <a:latin typeface="Times New Roman" panose="02020603050405020304" pitchFamily="18" charset="0"/>
                <a:cs typeface="Times New Roman" panose="02020603050405020304" pitchFamily="18" charset="0"/>
              </a:rPr>
              <a:t>AIM:</a:t>
            </a:r>
            <a:endParaRPr lang="en-US" sz="2200" dirty="0">
              <a:solidFill>
                <a:schemeClr val="accent5">
                  <a:lumMod val="75000"/>
                </a:schemeClr>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To identify differentially expressed genes and associated biological pathways involved in Hypertrophic Cardiomyopathy using </a:t>
            </a:r>
            <a:r>
              <a:rPr lang="en-US" dirty="0">
                <a:latin typeface="Times New Roman" panose="02020603050405020304" pitchFamily="18" charset="0"/>
                <a:cs typeface="Times New Roman" panose="02020603050405020304" pitchFamily="18" charset="0"/>
              </a:rPr>
              <a:t>R</a:t>
            </a:r>
            <a:r>
              <a:rPr lang="en-US" sz="2000" dirty="0">
                <a:latin typeface="Times New Roman" panose="02020603050405020304" pitchFamily="18" charset="0"/>
                <a:cs typeface="Times New Roman" panose="02020603050405020304" pitchFamily="18" charset="0"/>
              </a:rPr>
              <a:t>.</a:t>
            </a:r>
          </a:p>
          <a:p>
            <a:pPr marL="0" indent="0">
              <a:buNone/>
            </a:pPr>
            <a:endParaRPr lang="en-US" sz="2000" dirty="0">
              <a:latin typeface="Times New Roman" panose="02020603050405020304" pitchFamily="18" charset="0"/>
              <a:cs typeface="Times New Roman" panose="02020603050405020304" pitchFamily="18" charset="0"/>
            </a:endParaRPr>
          </a:p>
          <a:p>
            <a:pPr marL="0" indent="0">
              <a:buNone/>
            </a:pPr>
            <a:r>
              <a:rPr lang="en-US" sz="2200" b="1" dirty="0">
                <a:solidFill>
                  <a:schemeClr val="accent5">
                    <a:lumMod val="75000"/>
                  </a:schemeClr>
                </a:solidFill>
                <a:latin typeface="Times New Roman" panose="02020603050405020304" pitchFamily="18" charset="0"/>
                <a:cs typeface="Times New Roman" panose="02020603050405020304" pitchFamily="18" charset="0"/>
              </a:rPr>
              <a:t>OBJECTIVES :</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To retrieve and analyze gene expression data of Hypertrophic Cardiomyopathy (HCM) from the public repository Gene Expression Omnibus (G</a:t>
            </a:r>
            <a:r>
              <a:rPr lang="en-US" dirty="0">
                <a:latin typeface="Times New Roman" panose="02020603050405020304" pitchFamily="18" charset="0"/>
                <a:cs typeface="Times New Roman" panose="02020603050405020304" pitchFamily="18" charset="0"/>
              </a:rPr>
              <a:t>SE180313</a:t>
            </a:r>
            <a:r>
              <a:rPr lang="en-US" sz="2000" dirty="0">
                <a:latin typeface="Times New Roman" panose="02020603050405020304" pitchFamily="18" charset="0"/>
                <a:cs typeface="Times New Roman" panose="02020603050405020304" pitchFamily="18" charset="0"/>
              </a:rPr>
              <a:t>) to investigate disease-associated transcriptional changes.</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To perform differential gene expression analysis using the DESeq2 framework in order to identify significantly upregulated and downregulated genes between HCM and control samples.</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To functionally characterize the identified differentially expressed genes through KEGG pathway enrichment analysis using </a:t>
            </a:r>
            <a:r>
              <a:rPr lang="en-US" sz="2000" dirty="0" err="1">
                <a:latin typeface="Times New Roman" panose="02020603050405020304" pitchFamily="18" charset="0"/>
                <a:cs typeface="Times New Roman" panose="02020603050405020304" pitchFamily="18" charset="0"/>
              </a:rPr>
              <a:t>Clusterprofiler</a:t>
            </a:r>
            <a:r>
              <a:rPr lang="en-US" sz="2000" dirty="0">
                <a:latin typeface="Times New Roman" panose="02020603050405020304" pitchFamily="18" charset="0"/>
                <a:cs typeface="Times New Roman" panose="02020603050405020304" pitchFamily="18" charset="0"/>
              </a:rPr>
              <a:t>, thereby determining the key biological pathways associated with HCM.</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To visualize and interpret the enriched pathways using graphical representations in order to highlight the major pathways and genes potentially involved in the molecular mechanisms of HCM.</a:t>
            </a:r>
          </a:p>
          <a:p>
            <a:pPr marL="0" indent="0">
              <a:buNone/>
            </a:pPr>
            <a:endParaRPr lang="en-US" sz="2000" dirty="0">
              <a:latin typeface="Times New Roman" panose="02020603050405020304" pitchFamily="18" charset="0"/>
              <a:cs typeface="Times New Roman" panose="02020603050405020304" pitchFamily="18" charset="0"/>
            </a:endParaRPr>
          </a:p>
          <a:p>
            <a:pPr marL="0" indent="0">
              <a:buNone/>
            </a:pPr>
            <a:endParaRPr lang="en-US" sz="2000" dirty="0">
              <a:latin typeface="Times New Roman" panose="02020603050405020304" pitchFamily="18" charset="0"/>
              <a:cs typeface="Times New Roman" panose="02020603050405020304" pitchFamily="18" charset="0"/>
            </a:endParaRPr>
          </a:p>
          <a:p>
            <a:pPr marL="0" indent="0">
              <a:buNone/>
            </a:pPr>
            <a:endParaRPr lang="en-US" sz="2000" dirty="0">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1A3E679F-F920-55E6-8607-B91548E1F9C4}"/>
              </a:ext>
            </a:extLst>
          </p:cNvPr>
          <p:cNvSpPr>
            <a:spLocks noGrp="1"/>
          </p:cNvSpPr>
          <p:nvPr>
            <p:ph type="sldNum" sz="quarter" idx="12"/>
          </p:nvPr>
        </p:nvSpPr>
        <p:spPr/>
        <p:txBody>
          <a:bodyPr/>
          <a:lstStyle/>
          <a:p>
            <a:fld id="{879B03D1-D577-4587-B01C-F506E694E506}" type="slidenum">
              <a:rPr lang="en-US" smtClean="0"/>
              <a:t>3</a:t>
            </a:fld>
            <a:endParaRPr lang="en-US"/>
          </a:p>
        </p:txBody>
      </p:sp>
    </p:spTree>
    <p:extLst>
      <p:ext uri="{BB962C8B-B14F-4D97-AF65-F5344CB8AC3E}">
        <p14:creationId xmlns:p14="http://schemas.microsoft.com/office/powerpoint/2010/main" val="36506628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611235-268A-CDB0-CF6B-F0FE39CE6493}"/>
              </a:ext>
            </a:extLst>
          </p:cNvPr>
          <p:cNvSpPr>
            <a:spLocks noGrp="1"/>
          </p:cNvSpPr>
          <p:nvPr>
            <p:ph type="title"/>
          </p:nvPr>
        </p:nvSpPr>
        <p:spPr>
          <a:xfrm>
            <a:off x="838200" y="365126"/>
            <a:ext cx="10515600" cy="760941"/>
          </a:xfrm>
        </p:spPr>
        <p:txBody>
          <a:bodyPr>
            <a:normAutofit/>
          </a:bodyPr>
          <a:lstStyle/>
          <a:p>
            <a:pPr algn="ctr"/>
            <a:r>
              <a:rPr lang="en-US" sz="3600" dirty="0">
                <a:latin typeface="Times New Roman" panose="02020603050405020304" pitchFamily="18" charset="0"/>
                <a:cs typeface="Times New Roman" panose="02020603050405020304" pitchFamily="18" charset="0"/>
              </a:rPr>
              <a:t>METHODOLOGY</a:t>
            </a:r>
          </a:p>
        </p:txBody>
      </p:sp>
      <p:pic>
        <p:nvPicPr>
          <p:cNvPr id="5" name="Content Placeholder 4">
            <a:extLst>
              <a:ext uri="{FF2B5EF4-FFF2-40B4-BE49-F238E27FC236}">
                <a16:creationId xmlns:a16="http://schemas.microsoft.com/office/drawing/2014/main" id="{09F30816-DFF0-D9CD-C0EF-2B070F1ED158}"/>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r="880" b="9305"/>
          <a:stretch>
            <a:fillRect/>
          </a:stretch>
        </p:blipFill>
        <p:spPr>
          <a:xfrm>
            <a:off x="1631684" y="1303338"/>
            <a:ext cx="8850050" cy="4420129"/>
          </a:xfrm>
          <a:prstGeom prst="rect">
            <a:avLst/>
          </a:prstGeom>
        </p:spPr>
      </p:pic>
      <p:sp>
        <p:nvSpPr>
          <p:cNvPr id="7" name="Slide Number Placeholder 6">
            <a:extLst>
              <a:ext uri="{FF2B5EF4-FFF2-40B4-BE49-F238E27FC236}">
                <a16:creationId xmlns:a16="http://schemas.microsoft.com/office/drawing/2014/main" id="{74F2EDEB-A2C0-79A8-CDAA-07EAC75874D7}"/>
              </a:ext>
            </a:extLst>
          </p:cNvPr>
          <p:cNvSpPr>
            <a:spLocks noGrp="1"/>
          </p:cNvSpPr>
          <p:nvPr>
            <p:ph type="sldNum" sz="quarter" idx="12"/>
          </p:nvPr>
        </p:nvSpPr>
        <p:spPr/>
        <p:txBody>
          <a:bodyPr/>
          <a:lstStyle/>
          <a:p>
            <a:fld id="{879B03D1-D577-4587-B01C-F506E694E506}" type="slidenum">
              <a:rPr lang="en-US" smtClean="0"/>
              <a:t>4</a:t>
            </a:fld>
            <a:endParaRPr lang="en-US"/>
          </a:p>
        </p:txBody>
      </p:sp>
    </p:spTree>
    <p:extLst>
      <p:ext uri="{BB962C8B-B14F-4D97-AF65-F5344CB8AC3E}">
        <p14:creationId xmlns:p14="http://schemas.microsoft.com/office/powerpoint/2010/main" val="18360118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9C08BF-687A-A590-F5F8-401EABE5DEDA}"/>
              </a:ext>
            </a:extLst>
          </p:cNvPr>
          <p:cNvSpPr>
            <a:spLocks noGrp="1"/>
          </p:cNvSpPr>
          <p:nvPr>
            <p:ph type="title"/>
          </p:nvPr>
        </p:nvSpPr>
        <p:spPr>
          <a:xfrm>
            <a:off x="838200" y="2507192"/>
            <a:ext cx="10515600" cy="1325563"/>
          </a:xfrm>
        </p:spPr>
        <p:txBody>
          <a:bodyPr>
            <a:noAutofit/>
          </a:bodyPr>
          <a:lstStyle/>
          <a:p>
            <a:pPr algn="ctr"/>
            <a:r>
              <a:rPr lang="en-US" sz="3200" dirty="0">
                <a:latin typeface="Times New Roman" panose="02020603050405020304" pitchFamily="18" charset="0"/>
                <a:cs typeface="Times New Roman" panose="02020603050405020304" pitchFamily="18" charset="0"/>
              </a:rPr>
              <a:t>DIFFERENTIALLY EXPRESSED GENES</a:t>
            </a:r>
            <a:br>
              <a:rPr lang="en-US" sz="3200" dirty="0">
                <a:latin typeface="Times New Roman" panose="02020603050405020304" pitchFamily="18" charset="0"/>
                <a:cs typeface="Times New Roman" panose="02020603050405020304" pitchFamily="18" charset="0"/>
              </a:rPr>
            </a:b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RESULTS</a:t>
            </a:r>
          </a:p>
        </p:txBody>
      </p:sp>
      <p:sp>
        <p:nvSpPr>
          <p:cNvPr id="5" name="Slide Number Placeholder 4">
            <a:extLst>
              <a:ext uri="{FF2B5EF4-FFF2-40B4-BE49-F238E27FC236}">
                <a16:creationId xmlns:a16="http://schemas.microsoft.com/office/drawing/2014/main" id="{B6121282-ED47-B645-8197-E93FA101391B}"/>
              </a:ext>
            </a:extLst>
          </p:cNvPr>
          <p:cNvSpPr>
            <a:spLocks noGrp="1"/>
          </p:cNvSpPr>
          <p:nvPr>
            <p:ph type="sldNum" sz="quarter" idx="12"/>
          </p:nvPr>
        </p:nvSpPr>
        <p:spPr/>
        <p:txBody>
          <a:bodyPr/>
          <a:lstStyle/>
          <a:p>
            <a:fld id="{879B03D1-D577-4587-B01C-F506E694E506}" type="slidenum">
              <a:rPr lang="en-US" smtClean="0"/>
              <a:t>5</a:t>
            </a:fld>
            <a:endParaRPr lang="en-US"/>
          </a:p>
        </p:txBody>
      </p:sp>
    </p:spTree>
    <p:extLst>
      <p:ext uri="{BB962C8B-B14F-4D97-AF65-F5344CB8AC3E}">
        <p14:creationId xmlns:p14="http://schemas.microsoft.com/office/powerpoint/2010/main" val="32916669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EAA47B-FF9D-A266-55F4-5A9A67070FB7}"/>
              </a:ext>
            </a:extLst>
          </p:cNvPr>
          <p:cNvSpPr>
            <a:spLocks noGrp="1"/>
          </p:cNvSpPr>
          <p:nvPr>
            <p:ph type="title"/>
          </p:nvPr>
        </p:nvSpPr>
        <p:spPr>
          <a:xfrm>
            <a:off x="588432" y="365127"/>
            <a:ext cx="11015134" cy="707887"/>
          </a:xfrm>
        </p:spPr>
        <p:txBody>
          <a:bodyPr>
            <a:noAutofit/>
          </a:bodyPr>
          <a:lstStyle/>
          <a:p>
            <a:r>
              <a:rPr lang="en-US" sz="3200" dirty="0">
                <a:latin typeface="Times New Roman" panose="02020603050405020304" pitchFamily="18" charset="0"/>
                <a:cs typeface="Times New Roman" panose="02020603050405020304" pitchFamily="18" charset="0"/>
              </a:rPr>
              <a:t>Differentially Expressed Genes in Hypertrophic Cardiomyopathy</a:t>
            </a:r>
          </a:p>
        </p:txBody>
      </p:sp>
      <p:graphicFrame>
        <p:nvGraphicFramePr>
          <p:cNvPr id="4" name="Content Placeholder 3">
            <a:extLst>
              <a:ext uri="{FF2B5EF4-FFF2-40B4-BE49-F238E27FC236}">
                <a16:creationId xmlns:a16="http://schemas.microsoft.com/office/drawing/2014/main" id="{F995AA4C-7D88-77FC-0CD1-6A344636DBAE}"/>
              </a:ext>
            </a:extLst>
          </p:cNvPr>
          <p:cNvGraphicFramePr>
            <a:graphicFrameLocks noGrp="1"/>
          </p:cNvGraphicFramePr>
          <p:nvPr>
            <p:ph idx="1"/>
            <p:extLst>
              <p:ext uri="{D42A27DB-BD31-4B8C-83A1-F6EECF244321}">
                <p14:modId xmlns:p14="http://schemas.microsoft.com/office/powerpoint/2010/main" val="2832270870"/>
              </p:ext>
            </p:extLst>
          </p:nvPr>
        </p:nvGraphicFramePr>
        <p:xfrm>
          <a:off x="1126066" y="2700867"/>
          <a:ext cx="9702795" cy="3584999"/>
        </p:xfrm>
        <a:graphic>
          <a:graphicData uri="http://schemas.openxmlformats.org/drawingml/2006/table">
            <a:tbl>
              <a:tblPr firstRow="1" bandRow="1">
                <a:tableStyleId>{BDBED569-4797-4DF1-A0F4-6AAB3CD982D8}</a:tableStyleId>
              </a:tblPr>
              <a:tblGrid>
                <a:gridCol w="3234265">
                  <a:extLst>
                    <a:ext uri="{9D8B030D-6E8A-4147-A177-3AD203B41FA5}">
                      <a16:colId xmlns:a16="http://schemas.microsoft.com/office/drawing/2014/main" val="365264575"/>
                    </a:ext>
                  </a:extLst>
                </a:gridCol>
                <a:gridCol w="3234265">
                  <a:extLst>
                    <a:ext uri="{9D8B030D-6E8A-4147-A177-3AD203B41FA5}">
                      <a16:colId xmlns:a16="http://schemas.microsoft.com/office/drawing/2014/main" val="644002383"/>
                    </a:ext>
                  </a:extLst>
                </a:gridCol>
                <a:gridCol w="3234265">
                  <a:extLst>
                    <a:ext uri="{9D8B030D-6E8A-4147-A177-3AD203B41FA5}">
                      <a16:colId xmlns:a16="http://schemas.microsoft.com/office/drawing/2014/main" val="93644043"/>
                    </a:ext>
                  </a:extLst>
                </a:gridCol>
              </a:tblGrid>
              <a:tr h="325909">
                <a:tc>
                  <a:txBody>
                    <a:bodyPr/>
                    <a:lstStyle/>
                    <a:p>
                      <a:pPr algn="ctr" fontAlgn="ctr">
                        <a:buNone/>
                      </a:pPr>
                      <a:r>
                        <a:rPr lang="en-US" sz="2000" b="0" u="none" strike="noStrike" dirty="0">
                          <a:solidFill>
                            <a:srgbClr val="000000"/>
                          </a:solidFill>
                          <a:effectLst/>
                          <a:latin typeface="Times New Roman" panose="02020603050405020304" pitchFamily="18" charset="0"/>
                          <a:cs typeface="Times New Roman" panose="02020603050405020304" pitchFamily="18" charset="0"/>
                        </a:rPr>
                        <a:t>S.NO</a:t>
                      </a:r>
                      <a:endParaRPr lang="en-US"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2000" b="0" u="none" strike="noStrike" dirty="0" err="1">
                          <a:solidFill>
                            <a:srgbClr val="000000"/>
                          </a:solidFill>
                          <a:effectLst/>
                          <a:latin typeface="Times New Roman" panose="02020603050405020304" pitchFamily="18" charset="0"/>
                          <a:cs typeface="Times New Roman" panose="02020603050405020304" pitchFamily="18" charset="0"/>
                        </a:rPr>
                        <a:t>Padj</a:t>
                      </a:r>
                      <a:endParaRPr lang="en-US"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2000" b="0" u="none" strike="noStrike" dirty="0">
                          <a:solidFill>
                            <a:srgbClr val="000000"/>
                          </a:solidFill>
                          <a:effectLst/>
                          <a:latin typeface="Times New Roman" panose="02020603050405020304" pitchFamily="18" charset="0"/>
                          <a:cs typeface="Times New Roman" panose="02020603050405020304" pitchFamily="18" charset="0"/>
                        </a:rPr>
                        <a:t>Genes</a:t>
                      </a:r>
                      <a:endParaRPr lang="en-US"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2307525834"/>
                  </a:ext>
                </a:extLst>
              </a:tr>
              <a:tr h="325909">
                <a:tc>
                  <a:txBody>
                    <a:bodyPr/>
                    <a:lstStyle/>
                    <a:p>
                      <a:pPr algn="ctr" fontAlgn="ctr">
                        <a:buNone/>
                      </a:pPr>
                      <a:r>
                        <a:rPr lang="en-US" sz="2000" b="0" u="none" strike="noStrike" dirty="0">
                          <a:solidFill>
                            <a:srgbClr val="000000"/>
                          </a:solidFill>
                          <a:effectLst/>
                          <a:latin typeface="Times New Roman" panose="02020603050405020304" pitchFamily="18" charset="0"/>
                          <a:cs typeface="Times New Roman" panose="02020603050405020304" pitchFamily="18" charset="0"/>
                        </a:rPr>
                        <a:t>1</a:t>
                      </a:r>
                      <a:endParaRPr lang="en-US"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2000" b="0" u="none" strike="noStrike">
                          <a:solidFill>
                            <a:srgbClr val="000000"/>
                          </a:solidFill>
                          <a:effectLst/>
                          <a:latin typeface="Times New Roman" panose="02020603050405020304" pitchFamily="18" charset="0"/>
                          <a:cs typeface="Times New Roman" panose="02020603050405020304" pitchFamily="18" charset="0"/>
                        </a:rPr>
                        <a:t>5.34E-43</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2000" b="0" u="none" strike="noStrike">
                          <a:solidFill>
                            <a:srgbClr val="000000"/>
                          </a:solidFill>
                          <a:effectLst/>
                          <a:latin typeface="Times New Roman" panose="02020603050405020304" pitchFamily="18" charset="0"/>
                          <a:cs typeface="Times New Roman" panose="02020603050405020304" pitchFamily="18" charset="0"/>
                        </a:rPr>
                        <a:t>FCN3</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3877041653"/>
                  </a:ext>
                </a:extLst>
              </a:tr>
              <a:tr h="325909">
                <a:tc>
                  <a:txBody>
                    <a:bodyPr/>
                    <a:lstStyle/>
                    <a:p>
                      <a:pPr algn="ctr" fontAlgn="ctr">
                        <a:buNone/>
                      </a:pPr>
                      <a:r>
                        <a:rPr lang="en-US" sz="2000" b="0" u="none" strike="noStrike">
                          <a:solidFill>
                            <a:srgbClr val="000000"/>
                          </a:solidFill>
                          <a:effectLst/>
                          <a:latin typeface="Times New Roman" panose="02020603050405020304" pitchFamily="18" charset="0"/>
                          <a:cs typeface="Times New Roman" panose="02020603050405020304" pitchFamily="18" charset="0"/>
                        </a:rPr>
                        <a:t>2</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2000" b="0" u="none" strike="noStrike">
                          <a:solidFill>
                            <a:srgbClr val="000000"/>
                          </a:solidFill>
                          <a:effectLst/>
                          <a:latin typeface="Times New Roman" panose="02020603050405020304" pitchFamily="18" charset="0"/>
                          <a:cs typeface="Times New Roman" panose="02020603050405020304" pitchFamily="18" charset="0"/>
                        </a:rPr>
                        <a:t>5.02E-38</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2000" b="0" u="none" strike="noStrike">
                          <a:solidFill>
                            <a:srgbClr val="000000"/>
                          </a:solidFill>
                          <a:effectLst/>
                          <a:latin typeface="Times New Roman" panose="02020603050405020304" pitchFamily="18" charset="0"/>
                          <a:cs typeface="Times New Roman" panose="02020603050405020304" pitchFamily="18" charset="0"/>
                        </a:rPr>
                        <a:t>IRX1</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897952416"/>
                  </a:ext>
                </a:extLst>
              </a:tr>
              <a:tr h="325909">
                <a:tc>
                  <a:txBody>
                    <a:bodyPr/>
                    <a:lstStyle/>
                    <a:p>
                      <a:pPr algn="ctr" fontAlgn="ctr">
                        <a:buNone/>
                      </a:pPr>
                      <a:r>
                        <a:rPr lang="en-US" sz="2000" b="0" u="none" strike="noStrike">
                          <a:solidFill>
                            <a:srgbClr val="000000"/>
                          </a:solidFill>
                          <a:effectLst/>
                          <a:latin typeface="Times New Roman" panose="02020603050405020304" pitchFamily="18" charset="0"/>
                          <a:cs typeface="Times New Roman" panose="02020603050405020304" pitchFamily="18" charset="0"/>
                        </a:rPr>
                        <a:t>3</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2000" b="0" u="none" strike="noStrike">
                          <a:solidFill>
                            <a:srgbClr val="000000"/>
                          </a:solidFill>
                          <a:effectLst/>
                          <a:latin typeface="Times New Roman" panose="02020603050405020304" pitchFamily="18" charset="0"/>
                          <a:cs typeface="Times New Roman" panose="02020603050405020304" pitchFamily="18" charset="0"/>
                        </a:rPr>
                        <a:t>2.00E-35</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2000" b="0" u="none" strike="noStrike">
                          <a:solidFill>
                            <a:srgbClr val="000000"/>
                          </a:solidFill>
                          <a:effectLst/>
                          <a:latin typeface="Times New Roman" panose="02020603050405020304" pitchFamily="18" charset="0"/>
                          <a:cs typeface="Times New Roman" panose="02020603050405020304" pitchFamily="18" charset="0"/>
                        </a:rPr>
                        <a:t>SEZ6L</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3016203308"/>
                  </a:ext>
                </a:extLst>
              </a:tr>
              <a:tr h="325909">
                <a:tc>
                  <a:txBody>
                    <a:bodyPr/>
                    <a:lstStyle/>
                    <a:p>
                      <a:pPr algn="ctr" fontAlgn="ctr">
                        <a:buNone/>
                      </a:pPr>
                      <a:r>
                        <a:rPr lang="en-US" sz="2000" b="0" u="none" strike="noStrike">
                          <a:solidFill>
                            <a:srgbClr val="000000"/>
                          </a:solidFill>
                          <a:effectLst/>
                          <a:latin typeface="Times New Roman" panose="02020603050405020304" pitchFamily="18" charset="0"/>
                          <a:cs typeface="Times New Roman" panose="02020603050405020304" pitchFamily="18" charset="0"/>
                        </a:rPr>
                        <a:t>4</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2000" b="0" u="none" strike="noStrike">
                          <a:solidFill>
                            <a:srgbClr val="000000"/>
                          </a:solidFill>
                          <a:effectLst/>
                          <a:latin typeface="Times New Roman" panose="02020603050405020304" pitchFamily="18" charset="0"/>
                          <a:cs typeface="Times New Roman" panose="02020603050405020304" pitchFamily="18" charset="0"/>
                        </a:rPr>
                        <a:t>8.19E-29</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2000" b="0" u="none" strike="noStrike">
                          <a:solidFill>
                            <a:srgbClr val="000000"/>
                          </a:solidFill>
                          <a:effectLst/>
                          <a:latin typeface="Times New Roman" panose="02020603050405020304" pitchFamily="18" charset="0"/>
                          <a:cs typeface="Times New Roman" panose="02020603050405020304" pitchFamily="18" charset="0"/>
                        </a:rPr>
                        <a:t>ITIH5</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1020157993"/>
                  </a:ext>
                </a:extLst>
              </a:tr>
              <a:tr h="325909">
                <a:tc>
                  <a:txBody>
                    <a:bodyPr/>
                    <a:lstStyle/>
                    <a:p>
                      <a:pPr algn="ctr" fontAlgn="ctr">
                        <a:buNone/>
                      </a:pPr>
                      <a:r>
                        <a:rPr lang="en-US" sz="2000" b="0" u="none" strike="noStrike">
                          <a:solidFill>
                            <a:srgbClr val="000000"/>
                          </a:solidFill>
                          <a:effectLst/>
                          <a:latin typeface="Times New Roman" panose="02020603050405020304" pitchFamily="18" charset="0"/>
                          <a:cs typeface="Times New Roman" panose="02020603050405020304" pitchFamily="18" charset="0"/>
                        </a:rPr>
                        <a:t>5</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2000" b="0" u="none" strike="noStrike">
                          <a:solidFill>
                            <a:srgbClr val="000000"/>
                          </a:solidFill>
                          <a:effectLst/>
                          <a:latin typeface="Times New Roman" panose="02020603050405020304" pitchFamily="18" charset="0"/>
                          <a:cs typeface="Times New Roman" panose="02020603050405020304" pitchFamily="18" charset="0"/>
                        </a:rPr>
                        <a:t>2.09E-25</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2000" b="0" u="none" strike="noStrike">
                          <a:solidFill>
                            <a:srgbClr val="000000"/>
                          </a:solidFill>
                          <a:effectLst/>
                          <a:latin typeface="Times New Roman" panose="02020603050405020304" pitchFamily="18" charset="0"/>
                          <a:cs typeface="Times New Roman" panose="02020603050405020304" pitchFamily="18" charset="0"/>
                        </a:rPr>
                        <a:t>CYS1</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3558600221"/>
                  </a:ext>
                </a:extLst>
              </a:tr>
              <a:tr h="325909">
                <a:tc>
                  <a:txBody>
                    <a:bodyPr/>
                    <a:lstStyle/>
                    <a:p>
                      <a:pPr algn="ctr" fontAlgn="ctr">
                        <a:buNone/>
                      </a:pPr>
                      <a:r>
                        <a:rPr lang="en-US" sz="2000" b="0" u="none" strike="noStrike">
                          <a:solidFill>
                            <a:srgbClr val="000000"/>
                          </a:solidFill>
                          <a:effectLst/>
                          <a:latin typeface="Times New Roman" panose="02020603050405020304" pitchFamily="18" charset="0"/>
                          <a:cs typeface="Times New Roman" panose="02020603050405020304" pitchFamily="18" charset="0"/>
                        </a:rPr>
                        <a:t>6</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2000" b="0" u="none" strike="noStrike">
                          <a:solidFill>
                            <a:srgbClr val="000000"/>
                          </a:solidFill>
                          <a:effectLst/>
                          <a:latin typeface="Times New Roman" panose="02020603050405020304" pitchFamily="18" charset="0"/>
                          <a:cs typeface="Times New Roman" panose="02020603050405020304" pitchFamily="18" charset="0"/>
                        </a:rPr>
                        <a:t>5.62E-23</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2000" b="0" u="none" strike="noStrike">
                          <a:solidFill>
                            <a:srgbClr val="000000"/>
                          </a:solidFill>
                          <a:effectLst/>
                          <a:latin typeface="Times New Roman" panose="02020603050405020304" pitchFamily="18" charset="0"/>
                          <a:cs typeface="Times New Roman" panose="02020603050405020304" pitchFamily="18" charset="0"/>
                        </a:rPr>
                        <a:t>LCN6</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2127397064"/>
                  </a:ext>
                </a:extLst>
              </a:tr>
              <a:tr h="325909">
                <a:tc>
                  <a:txBody>
                    <a:bodyPr/>
                    <a:lstStyle/>
                    <a:p>
                      <a:pPr algn="ctr" fontAlgn="ctr">
                        <a:buNone/>
                      </a:pPr>
                      <a:r>
                        <a:rPr lang="en-US" sz="2000" b="0" u="none" strike="noStrike">
                          <a:solidFill>
                            <a:srgbClr val="000000"/>
                          </a:solidFill>
                          <a:effectLst/>
                          <a:latin typeface="Times New Roman" panose="02020603050405020304" pitchFamily="18" charset="0"/>
                          <a:cs typeface="Times New Roman" panose="02020603050405020304" pitchFamily="18" charset="0"/>
                        </a:rPr>
                        <a:t>7</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2000" b="0" u="none" strike="noStrike">
                          <a:solidFill>
                            <a:srgbClr val="000000"/>
                          </a:solidFill>
                          <a:effectLst/>
                          <a:latin typeface="Times New Roman" panose="02020603050405020304" pitchFamily="18" charset="0"/>
                          <a:cs typeface="Times New Roman" panose="02020603050405020304" pitchFamily="18" charset="0"/>
                        </a:rPr>
                        <a:t>1.83E-21</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2000" b="0" u="none" strike="noStrike">
                          <a:solidFill>
                            <a:srgbClr val="000000"/>
                          </a:solidFill>
                          <a:effectLst/>
                          <a:latin typeface="Times New Roman" panose="02020603050405020304" pitchFamily="18" charset="0"/>
                          <a:cs typeface="Times New Roman" panose="02020603050405020304" pitchFamily="18" charset="0"/>
                        </a:rPr>
                        <a:t>SFRP4</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1374106371"/>
                  </a:ext>
                </a:extLst>
              </a:tr>
              <a:tr h="325909">
                <a:tc>
                  <a:txBody>
                    <a:bodyPr/>
                    <a:lstStyle/>
                    <a:p>
                      <a:pPr algn="ctr" fontAlgn="ctr">
                        <a:buNone/>
                      </a:pPr>
                      <a:r>
                        <a:rPr lang="en-US" sz="2000" b="0" u="none" strike="noStrike">
                          <a:solidFill>
                            <a:srgbClr val="000000"/>
                          </a:solidFill>
                          <a:effectLst/>
                          <a:latin typeface="Times New Roman" panose="02020603050405020304" pitchFamily="18" charset="0"/>
                          <a:cs typeface="Times New Roman" panose="02020603050405020304" pitchFamily="18" charset="0"/>
                        </a:rPr>
                        <a:t>8</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2000" b="0" u="none" strike="noStrike">
                          <a:solidFill>
                            <a:srgbClr val="000000"/>
                          </a:solidFill>
                          <a:effectLst/>
                          <a:latin typeface="Times New Roman" panose="02020603050405020304" pitchFamily="18" charset="0"/>
                          <a:cs typeface="Times New Roman" panose="02020603050405020304" pitchFamily="18" charset="0"/>
                        </a:rPr>
                        <a:t>2.63E-21</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2000" b="0" u="none" strike="noStrike">
                          <a:solidFill>
                            <a:srgbClr val="000000"/>
                          </a:solidFill>
                          <a:effectLst/>
                          <a:latin typeface="Times New Roman" panose="02020603050405020304" pitchFamily="18" charset="0"/>
                          <a:cs typeface="Times New Roman" panose="02020603050405020304" pitchFamily="18" charset="0"/>
                        </a:rPr>
                        <a:t>HMOX2</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4119865956"/>
                  </a:ext>
                </a:extLst>
              </a:tr>
              <a:tr h="325909">
                <a:tc>
                  <a:txBody>
                    <a:bodyPr/>
                    <a:lstStyle/>
                    <a:p>
                      <a:pPr algn="ctr" fontAlgn="ctr">
                        <a:buNone/>
                      </a:pPr>
                      <a:r>
                        <a:rPr lang="en-US" sz="2000" b="0" u="none" strike="noStrike">
                          <a:solidFill>
                            <a:srgbClr val="000000"/>
                          </a:solidFill>
                          <a:effectLst/>
                          <a:latin typeface="Times New Roman" panose="02020603050405020304" pitchFamily="18" charset="0"/>
                          <a:cs typeface="Times New Roman" panose="02020603050405020304" pitchFamily="18" charset="0"/>
                        </a:rPr>
                        <a:t>9</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2000" b="0" u="none" strike="noStrike">
                          <a:solidFill>
                            <a:srgbClr val="000000"/>
                          </a:solidFill>
                          <a:effectLst/>
                          <a:latin typeface="Times New Roman" panose="02020603050405020304" pitchFamily="18" charset="0"/>
                          <a:cs typeface="Times New Roman" panose="02020603050405020304" pitchFamily="18" charset="0"/>
                        </a:rPr>
                        <a:t>1.00E-20</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2000" b="0" u="none" strike="noStrike">
                          <a:solidFill>
                            <a:srgbClr val="000000"/>
                          </a:solidFill>
                          <a:effectLst/>
                          <a:latin typeface="Times New Roman" panose="02020603050405020304" pitchFamily="18" charset="0"/>
                          <a:cs typeface="Times New Roman" panose="02020603050405020304" pitchFamily="18" charset="0"/>
                        </a:rPr>
                        <a:t>LTBP4</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207538519"/>
                  </a:ext>
                </a:extLst>
              </a:tr>
              <a:tr h="325909">
                <a:tc>
                  <a:txBody>
                    <a:bodyPr/>
                    <a:lstStyle/>
                    <a:p>
                      <a:pPr algn="ctr" fontAlgn="ctr">
                        <a:buNone/>
                      </a:pPr>
                      <a:r>
                        <a:rPr lang="en-US" sz="2000" b="0" u="none" strike="noStrike">
                          <a:solidFill>
                            <a:srgbClr val="000000"/>
                          </a:solidFill>
                          <a:effectLst/>
                          <a:latin typeface="Times New Roman" panose="02020603050405020304" pitchFamily="18" charset="0"/>
                          <a:cs typeface="Times New Roman" panose="02020603050405020304" pitchFamily="18" charset="0"/>
                        </a:rPr>
                        <a:t>10</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2000" b="0" u="none" strike="noStrike">
                          <a:solidFill>
                            <a:srgbClr val="000000"/>
                          </a:solidFill>
                          <a:effectLst/>
                          <a:latin typeface="Times New Roman" panose="02020603050405020304" pitchFamily="18" charset="0"/>
                          <a:cs typeface="Times New Roman" panose="02020603050405020304" pitchFamily="18" charset="0"/>
                        </a:rPr>
                        <a:t>1.52E-19</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2000" b="0" u="none" strike="noStrike" dirty="0">
                          <a:solidFill>
                            <a:srgbClr val="000000"/>
                          </a:solidFill>
                          <a:effectLst/>
                          <a:latin typeface="Times New Roman" panose="02020603050405020304" pitchFamily="18" charset="0"/>
                          <a:cs typeface="Times New Roman" panose="02020603050405020304" pitchFamily="18" charset="0"/>
                        </a:rPr>
                        <a:t>CCND1</a:t>
                      </a:r>
                      <a:endParaRPr lang="en-US"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2438558293"/>
                  </a:ext>
                </a:extLst>
              </a:tr>
            </a:tbl>
          </a:graphicData>
        </a:graphic>
      </p:graphicFrame>
      <p:sp>
        <p:nvSpPr>
          <p:cNvPr id="6" name="TextBox 5">
            <a:extLst>
              <a:ext uri="{FF2B5EF4-FFF2-40B4-BE49-F238E27FC236}">
                <a16:creationId xmlns:a16="http://schemas.microsoft.com/office/drawing/2014/main" id="{6852E449-5C81-67BD-0778-0F5D63040AFD}"/>
              </a:ext>
            </a:extLst>
          </p:cNvPr>
          <p:cNvSpPr txBox="1"/>
          <p:nvPr/>
        </p:nvSpPr>
        <p:spPr>
          <a:xfrm>
            <a:off x="713315" y="1634598"/>
            <a:ext cx="10765367" cy="707886"/>
          </a:xfrm>
          <a:prstGeom prst="rect">
            <a:avLst/>
          </a:prstGeom>
          <a:noFill/>
        </p:spPr>
        <p:txBody>
          <a:bodyPr wrap="square" rtlCol="0">
            <a:spAutoFit/>
          </a:bodyPr>
          <a:lstStyle/>
          <a:p>
            <a:pPr marL="285750" indent="-285750">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Differential gene expression analysis using DESeq2 identified several genes that were significantly altered between Hypertrophic Cardiomyopathy (HCM) cardiac tissue and normal donor controls.</a:t>
            </a:r>
          </a:p>
        </p:txBody>
      </p:sp>
      <p:sp>
        <p:nvSpPr>
          <p:cNvPr id="8" name="Slide Number Placeholder 7">
            <a:extLst>
              <a:ext uri="{FF2B5EF4-FFF2-40B4-BE49-F238E27FC236}">
                <a16:creationId xmlns:a16="http://schemas.microsoft.com/office/drawing/2014/main" id="{4C96FBED-66B1-C9DD-B8EF-50E19E628004}"/>
              </a:ext>
            </a:extLst>
          </p:cNvPr>
          <p:cNvSpPr>
            <a:spLocks noGrp="1"/>
          </p:cNvSpPr>
          <p:nvPr>
            <p:ph type="sldNum" sz="quarter" idx="12"/>
          </p:nvPr>
        </p:nvSpPr>
        <p:spPr/>
        <p:txBody>
          <a:bodyPr/>
          <a:lstStyle/>
          <a:p>
            <a:fld id="{879B03D1-D577-4587-B01C-F506E694E506}" type="slidenum">
              <a:rPr lang="en-US" smtClean="0"/>
              <a:t>6</a:t>
            </a:fld>
            <a:endParaRPr lang="en-US"/>
          </a:p>
        </p:txBody>
      </p:sp>
    </p:spTree>
    <p:extLst>
      <p:ext uri="{BB962C8B-B14F-4D97-AF65-F5344CB8AC3E}">
        <p14:creationId xmlns:p14="http://schemas.microsoft.com/office/powerpoint/2010/main" val="17392485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F0C0F8-8E4D-055A-626F-44A03EDBC640}"/>
              </a:ext>
            </a:extLst>
          </p:cNvPr>
          <p:cNvSpPr>
            <a:spLocks noGrp="1"/>
          </p:cNvSpPr>
          <p:nvPr>
            <p:ph type="title"/>
          </p:nvPr>
        </p:nvSpPr>
        <p:spPr>
          <a:xfrm>
            <a:off x="550334" y="238126"/>
            <a:ext cx="11159066" cy="777873"/>
          </a:xfrm>
        </p:spPr>
        <p:txBody>
          <a:bodyPr>
            <a:normAutofit fontScale="90000"/>
          </a:bodyPr>
          <a:lstStyle/>
          <a:p>
            <a:r>
              <a:rPr lang="en-US" sz="3200" dirty="0">
                <a:latin typeface="Times New Roman" panose="02020603050405020304" pitchFamily="18" charset="0"/>
                <a:cs typeface="Times New Roman" panose="02020603050405020304" pitchFamily="18" charset="0"/>
              </a:rPr>
              <a:t>Highly Expressed Genes in Hypertrophic Cardiomyopathy</a:t>
            </a:r>
          </a:p>
        </p:txBody>
      </p:sp>
      <p:sp>
        <p:nvSpPr>
          <p:cNvPr id="3" name="Content Placeholder 2">
            <a:extLst>
              <a:ext uri="{FF2B5EF4-FFF2-40B4-BE49-F238E27FC236}">
                <a16:creationId xmlns:a16="http://schemas.microsoft.com/office/drawing/2014/main" id="{5C82683C-0E48-C1B4-31D3-F8F520282DB4}"/>
              </a:ext>
            </a:extLst>
          </p:cNvPr>
          <p:cNvSpPr>
            <a:spLocks noGrp="1"/>
          </p:cNvSpPr>
          <p:nvPr>
            <p:ph idx="1"/>
          </p:nvPr>
        </p:nvSpPr>
        <p:spPr>
          <a:xfrm>
            <a:off x="355600" y="1269999"/>
            <a:ext cx="11768666" cy="5494867"/>
          </a:xfrm>
        </p:spPr>
        <p:txBody>
          <a:bodyPr>
            <a:normAutofit/>
          </a:bodyPr>
          <a:lstStyle/>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Differential gene expression analysis using DESeq2 identified several genes that were significantly upregulated in myocardial tissues of Hypertrophic Cardiomyopathy (HCM) patients compared with normal donor hearts.</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A set of 10 highly expressed genes were detected, including:</a:t>
            </a:r>
          </a:p>
          <a:p>
            <a:pPr marL="0" indent="0">
              <a:buNone/>
            </a:pPr>
            <a:endParaRPr lang="en-US" sz="2000" dirty="0">
              <a:latin typeface="Times New Roman" panose="02020603050405020304" pitchFamily="18" charset="0"/>
              <a:cs typeface="Times New Roman" panose="02020603050405020304" pitchFamily="18" charset="0"/>
            </a:endParaRPr>
          </a:p>
          <a:p>
            <a:pPr marL="0" indent="0">
              <a:buNone/>
            </a:pPr>
            <a:endParaRPr lang="en-US" sz="2000" dirty="0">
              <a:latin typeface="Times New Roman" panose="02020603050405020304" pitchFamily="18" charset="0"/>
              <a:cs typeface="Times New Roman" panose="02020603050405020304" pitchFamily="18" charset="0"/>
            </a:endParaRPr>
          </a:p>
        </p:txBody>
      </p:sp>
      <p:graphicFrame>
        <p:nvGraphicFramePr>
          <p:cNvPr id="4" name="Table 3">
            <a:extLst>
              <a:ext uri="{FF2B5EF4-FFF2-40B4-BE49-F238E27FC236}">
                <a16:creationId xmlns:a16="http://schemas.microsoft.com/office/drawing/2014/main" id="{0FDDCBBC-7074-60CA-3878-8E72E55EE612}"/>
              </a:ext>
            </a:extLst>
          </p:cNvPr>
          <p:cNvGraphicFramePr>
            <a:graphicFrameLocks noGrp="1"/>
          </p:cNvGraphicFramePr>
          <p:nvPr>
            <p:extLst>
              <p:ext uri="{D42A27DB-BD31-4B8C-83A1-F6EECF244321}">
                <p14:modId xmlns:p14="http://schemas.microsoft.com/office/powerpoint/2010/main" val="2440543651"/>
              </p:ext>
            </p:extLst>
          </p:nvPr>
        </p:nvGraphicFramePr>
        <p:xfrm>
          <a:off x="2277534" y="2370666"/>
          <a:ext cx="8127999" cy="4079240"/>
        </p:xfrm>
        <a:graphic>
          <a:graphicData uri="http://schemas.openxmlformats.org/drawingml/2006/table">
            <a:tbl>
              <a:tblPr firstRow="1" bandRow="1">
                <a:tableStyleId>{BDBED569-4797-4DF1-A0F4-6AAB3CD982D8}</a:tableStyleId>
              </a:tblPr>
              <a:tblGrid>
                <a:gridCol w="2709333">
                  <a:extLst>
                    <a:ext uri="{9D8B030D-6E8A-4147-A177-3AD203B41FA5}">
                      <a16:colId xmlns:a16="http://schemas.microsoft.com/office/drawing/2014/main" val="3096595459"/>
                    </a:ext>
                  </a:extLst>
                </a:gridCol>
                <a:gridCol w="2709333">
                  <a:extLst>
                    <a:ext uri="{9D8B030D-6E8A-4147-A177-3AD203B41FA5}">
                      <a16:colId xmlns:a16="http://schemas.microsoft.com/office/drawing/2014/main" val="1471267303"/>
                    </a:ext>
                  </a:extLst>
                </a:gridCol>
                <a:gridCol w="2709333">
                  <a:extLst>
                    <a:ext uri="{9D8B030D-6E8A-4147-A177-3AD203B41FA5}">
                      <a16:colId xmlns:a16="http://schemas.microsoft.com/office/drawing/2014/main" val="1109090638"/>
                    </a:ext>
                  </a:extLst>
                </a:gridCol>
              </a:tblGrid>
              <a:tr h="370840">
                <a:tc>
                  <a:txBody>
                    <a:bodyPr/>
                    <a:lstStyle/>
                    <a:p>
                      <a:pPr algn="ctr" fontAlgn="b">
                        <a:buNone/>
                      </a:pPr>
                      <a:r>
                        <a:rPr lang="en-US" sz="2000" b="0" u="none" strike="noStrike" dirty="0">
                          <a:solidFill>
                            <a:srgbClr val="000000"/>
                          </a:solidFill>
                          <a:effectLst/>
                          <a:latin typeface="Times New Roman" panose="02020603050405020304" pitchFamily="18" charset="0"/>
                          <a:cs typeface="Times New Roman" panose="02020603050405020304" pitchFamily="18" charset="0"/>
                        </a:rPr>
                        <a:t>S.NO</a:t>
                      </a:r>
                      <a:endParaRPr lang="en-US"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2000" b="0" u="none" strike="noStrike" dirty="0">
                          <a:solidFill>
                            <a:srgbClr val="000000"/>
                          </a:solidFill>
                          <a:effectLst/>
                          <a:latin typeface="Times New Roman" panose="02020603050405020304" pitchFamily="18" charset="0"/>
                          <a:cs typeface="Times New Roman" panose="02020603050405020304" pitchFamily="18" charset="0"/>
                        </a:rPr>
                        <a:t>Log2Fold Value</a:t>
                      </a:r>
                      <a:endParaRPr lang="en-US"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2000" b="0" u="none" strike="noStrike" dirty="0">
                          <a:solidFill>
                            <a:srgbClr val="000000"/>
                          </a:solidFill>
                          <a:effectLst/>
                          <a:latin typeface="Times New Roman" panose="02020603050405020304" pitchFamily="18" charset="0"/>
                          <a:cs typeface="Times New Roman" panose="02020603050405020304" pitchFamily="18" charset="0"/>
                        </a:rPr>
                        <a:t>Genes</a:t>
                      </a:r>
                      <a:endParaRPr lang="en-US"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3672389781"/>
                  </a:ext>
                </a:extLst>
              </a:tr>
              <a:tr h="370840">
                <a:tc>
                  <a:txBody>
                    <a:bodyPr/>
                    <a:lstStyle/>
                    <a:p>
                      <a:pPr algn="ctr" fontAlgn="b">
                        <a:buNone/>
                      </a:pPr>
                      <a:r>
                        <a:rPr lang="en-US" sz="2000" b="0" u="none" strike="noStrike">
                          <a:solidFill>
                            <a:srgbClr val="000000"/>
                          </a:solidFill>
                          <a:effectLst/>
                          <a:latin typeface="Times New Roman" panose="02020603050405020304" pitchFamily="18" charset="0"/>
                          <a:cs typeface="Times New Roman" panose="02020603050405020304" pitchFamily="18" charset="0"/>
                        </a:rPr>
                        <a:t>1</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2000" b="0" u="none" strike="noStrike">
                          <a:solidFill>
                            <a:srgbClr val="000000"/>
                          </a:solidFill>
                          <a:effectLst/>
                          <a:latin typeface="Times New Roman" panose="02020603050405020304" pitchFamily="18" charset="0"/>
                          <a:cs typeface="Times New Roman" panose="02020603050405020304" pitchFamily="18" charset="0"/>
                        </a:rPr>
                        <a:t>7.40E-06</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2000" b="0" u="none" strike="noStrike">
                          <a:solidFill>
                            <a:srgbClr val="000000"/>
                          </a:solidFill>
                          <a:effectLst/>
                          <a:latin typeface="Times New Roman" panose="02020603050405020304" pitchFamily="18" charset="0"/>
                          <a:cs typeface="Times New Roman" panose="02020603050405020304" pitchFamily="18" charset="0"/>
                        </a:rPr>
                        <a:t>RFPL4A</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193123880"/>
                  </a:ext>
                </a:extLst>
              </a:tr>
              <a:tr h="370840">
                <a:tc>
                  <a:txBody>
                    <a:bodyPr/>
                    <a:lstStyle/>
                    <a:p>
                      <a:pPr algn="ctr" fontAlgn="b">
                        <a:buNone/>
                      </a:pPr>
                      <a:r>
                        <a:rPr lang="en-US" sz="2000" b="0" u="none" strike="noStrike" dirty="0">
                          <a:solidFill>
                            <a:srgbClr val="000000"/>
                          </a:solidFill>
                          <a:effectLst/>
                          <a:latin typeface="Times New Roman" panose="02020603050405020304" pitchFamily="18" charset="0"/>
                          <a:cs typeface="Times New Roman" panose="02020603050405020304" pitchFamily="18" charset="0"/>
                        </a:rPr>
                        <a:t>2</a:t>
                      </a:r>
                      <a:endParaRPr lang="en-US"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2000" b="0" u="none" strike="noStrike">
                          <a:solidFill>
                            <a:srgbClr val="000000"/>
                          </a:solidFill>
                          <a:effectLst/>
                          <a:latin typeface="Times New Roman" panose="02020603050405020304" pitchFamily="18" charset="0"/>
                          <a:cs typeface="Times New Roman" panose="02020603050405020304" pitchFamily="18" charset="0"/>
                        </a:rPr>
                        <a:t>2.04E-05</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2000" b="0" u="none" strike="noStrike">
                          <a:solidFill>
                            <a:srgbClr val="000000"/>
                          </a:solidFill>
                          <a:effectLst/>
                          <a:latin typeface="Times New Roman" panose="02020603050405020304" pitchFamily="18" charset="0"/>
                          <a:cs typeface="Times New Roman" panose="02020603050405020304" pitchFamily="18" charset="0"/>
                        </a:rPr>
                        <a:t>RFPL4AL1</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758462816"/>
                  </a:ext>
                </a:extLst>
              </a:tr>
              <a:tr h="370840">
                <a:tc>
                  <a:txBody>
                    <a:bodyPr/>
                    <a:lstStyle/>
                    <a:p>
                      <a:pPr algn="ctr" fontAlgn="b">
                        <a:buNone/>
                      </a:pPr>
                      <a:r>
                        <a:rPr lang="en-US" sz="2000" b="0" u="none" strike="noStrike">
                          <a:solidFill>
                            <a:srgbClr val="000000"/>
                          </a:solidFill>
                          <a:effectLst/>
                          <a:latin typeface="Times New Roman" panose="02020603050405020304" pitchFamily="18" charset="0"/>
                          <a:cs typeface="Times New Roman" panose="02020603050405020304" pitchFamily="18" charset="0"/>
                        </a:rPr>
                        <a:t>3</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2000" b="0" u="none" strike="noStrike">
                          <a:solidFill>
                            <a:srgbClr val="000000"/>
                          </a:solidFill>
                          <a:effectLst/>
                          <a:latin typeface="Times New Roman" panose="02020603050405020304" pitchFamily="18" charset="0"/>
                          <a:cs typeface="Times New Roman" panose="02020603050405020304" pitchFamily="18" charset="0"/>
                        </a:rPr>
                        <a:t>8.27E-08</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2000" b="0" u="none" strike="noStrike">
                          <a:solidFill>
                            <a:srgbClr val="000000"/>
                          </a:solidFill>
                          <a:effectLst/>
                          <a:latin typeface="Times New Roman" panose="02020603050405020304" pitchFamily="18" charset="0"/>
                          <a:cs typeface="Times New Roman" panose="02020603050405020304" pitchFamily="18" charset="0"/>
                        </a:rPr>
                        <a:t>EDN3</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3326373997"/>
                  </a:ext>
                </a:extLst>
              </a:tr>
              <a:tr h="370840">
                <a:tc>
                  <a:txBody>
                    <a:bodyPr/>
                    <a:lstStyle/>
                    <a:p>
                      <a:pPr algn="ctr" fontAlgn="b">
                        <a:buNone/>
                      </a:pPr>
                      <a:r>
                        <a:rPr lang="en-US" sz="2000" b="0" u="none" strike="noStrike">
                          <a:solidFill>
                            <a:srgbClr val="000000"/>
                          </a:solidFill>
                          <a:effectLst/>
                          <a:latin typeface="Times New Roman" panose="02020603050405020304" pitchFamily="18" charset="0"/>
                          <a:cs typeface="Times New Roman" panose="02020603050405020304" pitchFamily="18" charset="0"/>
                        </a:rPr>
                        <a:t>4</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2000" b="0" u="none" strike="noStrike">
                          <a:solidFill>
                            <a:srgbClr val="000000"/>
                          </a:solidFill>
                          <a:effectLst/>
                          <a:latin typeface="Times New Roman" panose="02020603050405020304" pitchFamily="18" charset="0"/>
                          <a:cs typeface="Times New Roman" panose="02020603050405020304" pitchFamily="18" charset="0"/>
                        </a:rPr>
                        <a:t>4.96E-07</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2000" b="0" u="none" strike="noStrike">
                          <a:solidFill>
                            <a:srgbClr val="000000"/>
                          </a:solidFill>
                          <a:effectLst/>
                          <a:latin typeface="Times New Roman" panose="02020603050405020304" pitchFamily="18" charset="0"/>
                          <a:cs typeface="Times New Roman" panose="02020603050405020304" pitchFamily="18" charset="0"/>
                        </a:rPr>
                        <a:t>CST2</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324595783"/>
                  </a:ext>
                </a:extLst>
              </a:tr>
              <a:tr h="370840">
                <a:tc>
                  <a:txBody>
                    <a:bodyPr/>
                    <a:lstStyle/>
                    <a:p>
                      <a:pPr algn="ctr" fontAlgn="b">
                        <a:buNone/>
                      </a:pPr>
                      <a:r>
                        <a:rPr lang="en-US" sz="2000" b="0" u="none" strike="noStrike" dirty="0">
                          <a:solidFill>
                            <a:srgbClr val="000000"/>
                          </a:solidFill>
                          <a:effectLst/>
                          <a:latin typeface="Times New Roman" panose="02020603050405020304" pitchFamily="18" charset="0"/>
                          <a:cs typeface="Times New Roman" panose="02020603050405020304" pitchFamily="18" charset="0"/>
                        </a:rPr>
                        <a:t>5</a:t>
                      </a:r>
                      <a:endParaRPr lang="en-US"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2000" b="0" u="none" strike="noStrike">
                          <a:solidFill>
                            <a:srgbClr val="000000"/>
                          </a:solidFill>
                          <a:effectLst/>
                          <a:latin typeface="Times New Roman" panose="02020603050405020304" pitchFamily="18" charset="0"/>
                          <a:cs typeface="Times New Roman" panose="02020603050405020304" pitchFamily="18" charset="0"/>
                        </a:rPr>
                        <a:t>2.00E-35</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2000" b="0" u="none" strike="noStrike">
                          <a:solidFill>
                            <a:srgbClr val="000000"/>
                          </a:solidFill>
                          <a:effectLst/>
                          <a:latin typeface="Times New Roman" panose="02020603050405020304" pitchFamily="18" charset="0"/>
                          <a:cs typeface="Times New Roman" panose="02020603050405020304" pitchFamily="18" charset="0"/>
                        </a:rPr>
                        <a:t>SEZ6L</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389845453"/>
                  </a:ext>
                </a:extLst>
              </a:tr>
              <a:tr h="370840">
                <a:tc>
                  <a:txBody>
                    <a:bodyPr/>
                    <a:lstStyle/>
                    <a:p>
                      <a:pPr algn="ctr" fontAlgn="b">
                        <a:buNone/>
                      </a:pPr>
                      <a:r>
                        <a:rPr lang="en-US" sz="2000" b="0" u="none" strike="noStrike">
                          <a:solidFill>
                            <a:srgbClr val="000000"/>
                          </a:solidFill>
                          <a:effectLst/>
                          <a:latin typeface="Times New Roman" panose="02020603050405020304" pitchFamily="18" charset="0"/>
                          <a:cs typeface="Times New Roman" panose="02020603050405020304" pitchFamily="18" charset="0"/>
                        </a:rPr>
                        <a:t>6</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2000" b="0" u="none" strike="noStrike">
                          <a:solidFill>
                            <a:srgbClr val="000000"/>
                          </a:solidFill>
                          <a:effectLst/>
                          <a:latin typeface="Times New Roman" panose="02020603050405020304" pitchFamily="18" charset="0"/>
                          <a:cs typeface="Times New Roman" panose="02020603050405020304" pitchFamily="18" charset="0"/>
                        </a:rPr>
                        <a:t>4.29E-09</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2000" b="0" u="none" strike="noStrike">
                          <a:solidFill>
                            <a:srgbClr val="000000"/>
                          </a:solidFill>
                          <a:effectLst/>
                          <a:latin typeface="Times New Roman" panose="02020603050405020304" pitchFamily="18" charset="0"/>
                          <a:cs typeface="Times New Roman" panose="02020603050405020304" pitchFamily="18" charset="0"/>
                        </a:rPr>
                        <a:t>ESM1</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246080148"/>
                  </a:ext>
                </a:extLst>
              </a:tr>
              <a:tr h="370840">
                <a:tc>
                  <a:txBody>
                    <a:bodyPr/>
                    <a:lstStyle/>
                    <a:p>
                      <a:pPr algn="ctr" fontAlgn="b">
                        <a:buNone/>
                      </a:pPr>
                      <a:r>
                        <a:rPr lang="en-US" sz="2000" b="0" u="none" strike="noStrike">
                          <a:solidFill>
                            <a:srgbClr val="000000"/>
                          </a:solidFill>
                          <a:effectLst/>
                          <a:latin typeface="Times New Roman" panose="02020603050405020304" pitchFamily="18" charset="0"/>
                          <a:cs typeface="Times New Roman" panose="02020603050405020304" pitchFamily="18" charset="0"/>
                        </a:rPr>
                        <a:t>7</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2000" b="0" u="none" strike="noStrike">
                          <a:solidFill>
                            <a:srgbClr val="000000"/>
                          </a:solidFill>
                          <a:effectLst/>
                          <a:latin typeface="Times New Roman" panose="02020603050405020304" pitchFamily="18" charset="0"/>
                          <a:cs typeface="Times New Roman" panose="02020603050405020304" pitchFamily="18" charset="0"/>
                        </a:rPr>
                        <a:t>3.16E-08</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2000" b="0" u="none" strike="noStrike">
                          <a:solidFill>
                            <a:srgbClr val="000000"/>
                          </a:solidFill>
                          <a:effectLst/>
                          <a:latin typeface="Times New Roman" panose="02020603050405020304" pitchFamily="18" charset="0"/>
                          <a:cs typeface="Times New Roman" panose="02020603050405020304" pitchFamily="18" charset="0"/>
                        </a:rPr>
                        <a:t>SIGLEC17P</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634688424"/>
                  </a:ext>
                </a:extLst>
              </a:tr>
              <a:tr h="370840">
                <a:tc>
                  <a:txBody>
                    <a:bodyPr/>
                    <a:lstStyle/>
                    <a:p>
                      <a:pPr algn="ctr" fontAlgn="b">
                        <a:buNone/>
                      </a:pPr>
                      <a:r>
                        <a:rPr lang="en-US" sz="2000" b="0" u="none" strike="noStrike">
                          <a:solidFill>
                            <a:srgbClr val="000000"/>
                          </a:solidFill>
                          <a:effectLst/>
                          <a:latin typeface="Times New Roman" panose="02020603050405020304" pitchFamily="18" charset="0"/>
                          <a:cs typeface="Times New Roman" panose="02020603050405020304" pitchFamily="18" charset="0"/>
                        </a:rPr>
                        <a:t>8</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2000" b="0" u="none" strike="noStrike">
                          <a:solidFill>
                            <a:srgbClr val="000000"/>
                          </a:solidFill>
                          <a:effectLst/>
                          <a:latin typeface="Times New Roman" panose="02020603050405020304" pitchFamily="18" charset="0"/>
                          <a:cs typeface="Times New Roman" panose="02020603050405020304" pitchFamily="18" charset="0"/>
                        </a:rPr>
                        <a:t>5.78E-09</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2000" b="0" u="none" strike="noStrike">
                          <a:solidFill>
                            <a:srgbClr val="000000"/>
                          </a:solidFill>
                          <a:effectLst/>
                          <a:latin typeface="Times New Roman" panose="02020603050405020304" pitchFamily="18" charset="0"/>
                          <a:cs typeface="Times New Roman" panose="02020603050405020304" pitchFamily="18" charset="0"/>
                        </a:rPr>
                        <a:t>CUX2</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2521331314"/>
                  </a:ext>
                </a:extLst>
              </a:tr>
              <a:tr h="370840">
                <a:tc>
                  <a:txBody>
                    <a:bodyPr/>
                    <a:lstStyle/>
                    <a:p>
                      <a:pPr algn="ctr" fontAlgn="b">
                        <a:buNone/>
                      </a:pPr>
                      <a:r>
                        <a:rPr lang="en-US" sz="2000" b="0" u="none" strike="noStrike">
                          <a:solidFill>
                            <a:srgbClr val="000000"/>
                          </a:solidFill>
                          <a:effectLst/>
                          <a:latin typeface="Times New Roman" panose="02020603050405020304" pitchFamily="18" charset="0"/>
                          <a:cs typeface="Times New Roman" panose="02020603050405020304" pitchFamily="18" charset="0"/>
                        </a:rPr>
                        <a:t>9</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2000" b="0" u="none" strike="noStrike">
                          <a:solidFill>
                            <a:srgbClr val="000000"/>
                          </a:solidFill>
                          <a:effectLst/>
                          <a:latin typeface="Times New Roman" panose="02020603050405020304" pitchFamily="18" charset="0"/>
                          <a:cs typeface="Times New Roman" panose="02020603050405020304" pitchFamily="18" charset="0"/>
                        </a:rPr>
                        <a:t>1.46E-11</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2000" b="0" u="none" strike="noStrike">
                          <a:solidFill>
                            <a:srgbClr val="000000"/>
                          </a:solidFill>
                          <a:effectLst/>
                          <a:latin typeface="Times New Roman" panose="02020603050405020304" pitchFamily="18" charset="0"/>
                          <a:cs typeface="Times New Roman" panose="02020603050405020304" pitchFamily="18" charset="0"/>
                        </a:rPr>
                        <a:t>GSG1L</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1559799789"/>
                  </a:ext>
                </a:extLst>
              </a:tr>
              <a:tr h="370840">
                <a:tc>
                  <a:txBody>
                    <a:bodyPr/>
                    <a:lstStyle/>
                    <a:p>
                      <a:pPr algn="ctr" fontAlgn="b">
                        <a:buNone/>
                      </a:pPr>
                      <a:r>
                        <a:rPr lang="en-US" sz="2000" b="0" u="none" strike="noStrike">
                          <a:solidFill>
                            <a:srgbClr val="000000"/>
                          </a:solidFill>
                          <a:effectLst/>
                          <a:latin typeface="Times New Roman" panose="02020603050405020304" pitchFamily="18" charset="0"/>
                          <a:cs typeface="Times New Roman" panose="02020603050405020304" pitchFamily="18" charset="0"/>
                        </a:rPr>
                        <a:t>10</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2000" b="0" u="none" strike="noStrike">
                          <a:solidFill>
                            <a:srgbClr val="000000"/>
                          </a:solidFill>
                          <a:effectLst/>
                          <a:latin typeface="Times New Roman" panose="02020603050405020304" pitchFamily="18" charset="0"/>
                          <a:cs typeface="Times New Roman" panose="02020603050405020304" pitchFamily="18" charset="0"/>
                        </a:rPr>
                        <a:t>9.92E-12</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2000" b="0" u="none" strike="noStrike" dirty="0">
                          <a:solidFill>
                            <a:srgbClr val="000000"/>
                          </a:solidFill>
                          <a:effectLst/>
                          <a:latin typeface="Times New Roman" panose="02020603050405020304" pitchFamily="18" charset="0"/>
                          <a:cs typeface="Times New Roman" panose="02020603050405020304" pitchFamily="18" charset="0"/>
                        </a:rPr>
                        <a:t>VGLL2</a:t>
                      </a:r>
                      <a:endParaRPr lang="en-US"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3280151891"/>
                  </a:ext>
                </a:extLst>
              </a:tr>
            </a:tbl>
          </a:graphicData>
        </a:graphic>
      </p:graphicFrame>
      <p:sp>
        <p:nvSpPr>
          <p:cNvPr id="6" name="Slide Number Placeholder 5">
            <a:extLst>
              <a:ext uri="{FF2B5EF4-FFF2-40B4-BE49-F238E27FC236}">
                <a16:creationId xmlns:a16="http://schemas.microsoft.com/office/drawing/2014/main" id="{B153596F-F0FF-9538-B9AA-C2C71B152CF3}"/>
              </a:ext>
            </a:extLst>
          </p:cNvPr>
          <p:cNvSpPr>
            <a:spLocks noGrp="1"/>
          </p:cNvSpPr>
          <p:nvPr>
            <p:ph type="sldNum" sz="quarter" idx="12"/>
          </p:nvPr>
        </p:nvSpPr>
        <p:spPr/>
        <p:txBody>
          <a:bodyPr/>
          <a:lstStyle/>
          <a:p>
            <a:fld id="{879B03D1-D577-4587-B01C-F506E694E506}" type="slidenum">
              <a:rPr lang="en-US" smtClean="0"/>
              <a:t>7</a:t>
            </a:fld>
            <a:endParaRPr lang="en-US"/>
          </a:p>
        </p:txBody>
      </p:sp>
    </p:spTree>
    <p:extLst>
      <p:ext uri="{BB962C8B-B14F-4D97-AF65-F5344CB8AC3E}">
        <p14:creationId xmlns:p14="http://schemas.microsoft.com/office/powerpoint/2010/main" val="34605862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D759A6-59E2-AFD1-DDDA-F35648FE128D}"/>
              </a:ext>
            </a:extLst>
          </p:cNvPr>
          <p:cNvSpPr>
            <a:spLocks noGrp="1"/>
          </p:cNvSpPr>
          <p:nvPr>
            <p:ph type="title"/>
          </p:nvPr>
        </p:nvSpPr>
        <p:spPr>
          <a:xfrm>
            <a:off x="965200" y="271993"/>
            <a:ext cx="10642600" cy="600074"/>
          </a:xfrm>
        </p:spPr>
        <p:txBody>
          <a:bodyPr>
            <a:normAutofit fontScale="90000"/>
          </a:bodyPr>
          <a:lstStyle/>
          <a:p>
            <a:pPr algn="ctr"/>
            <a:r>
              <a:rPr lang="en-US" sz="3600" dirty="0">
                <a:latin typeface="Times New Roman" panose="02020603050405020304" pitchFamily="18" charset="0"/>
                <a:cs typeface="Times New Roman" panose="02020603050405020304" pitchFamily="18" charset="0"/>
              </a:rPr>
              <a:t>Volcano Plot of Differentially Expressed Genes</a:t>
            </a:r>
          </a:p>
        </p:txBody>
      </p:sp>
      <p:pic>
        <p:nvPicPr>
          <p:cNvPr id="5" name="Content Placeholder 4">
            <a:extLst>
              <a:ext uri="{FF2B5EF4-FFF2-40B4-BE49-F238E27FC236}">
                <a16:creationId xmlns:a16="http://schemas.microsoft.com/office/drawing/2014/main" id="{50F9BE7E-CADE-F57D-F5C4-6B01B3D1571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74700" y="982133"/>
            <a:ext cx="10759948" cy="4021667"/>
          </a:xfrm>
          <a:prstGeom prst="rect">
            <a:avLst/>
          </a:prstGeom>
        </p:spPr>
      </p:pic>
      <p:sp>
        <p:nvSpPr>
          <p:cNvPr id="6" name="TextBox 5">
            <a:extLst>
              <a:ext uri="{FF2B5EF4-FFF2-40B4-BE49-F238E27FC236}">
                <a16:creationId xmlns:a16="http://schemas.microsoft.com/office/drawing/2014/main" id="{C7FC9126-43BF-76EA-4270-7CDE19F11A88}"/>
              </a:ext>
            </a:extLst>
          </p:cNvPr>
          <p:cNvSpPr txBox="1"/>
          <p:nvPr/>
        </p:nvSpPr>
        <p:spPr>
          <a:xfrm>
            <a:off x="774700" y="5528734"/>
            <a:ext cx="10642600" cy="707886"/>
          </a:xfrm>
          <a:prstGeom prst="rect">
            <a:avLst/>
          </a:prstGeom>
          <a:noFill/>
        </p:spPr>
        <p:txBody>
          <a:bodyPr wrap="square" rtlCol="0">
            <a:spAutoFit/>
          </a:bodyPr>
          <a:lstStyle/>
          <a:p>
            <a:pPr marL="285750" indent="-285750">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 volcano plot highlights genes with both high fold change and strong statistical significance, indicating potential roles in the molecular mechanisms of Hypertrophic Cardiomyopathy.</a:t>
            </a:r>
          </a:p>
        </p:txBody>
      </p:sp>
      <p:sp>
        <p:nvSpPr>
          <p:cNvPr id="8" name="Slide Number Placeholder 7">
            <a:extLst>
              <a:ext uri="{FF2B5EF4-FFF2-40B4-BE49-F238E27FC236}">
                <a16:creationId xmlns:a16="http://schemas.microsoft.com/office/drawing/2014/main" id="{0CC61F23-3FA9-A8E6-F555-C0B443AAF694}"/>
              </a:ext>
            </a:extLst>
          </p:cNvPr>
          <p:cNvSpPr>
            <a:spLocks noGrp="1"/>
          </p:cNvSpPr>
          <p:nvPr>
            <p:ph type="sldNum" sz="quarter" idx="12"/>
          </p:nvPr>
        </p:nvSpPr>
        <p:spPr/>
        <p:txBody>
          <a:bodyPr/>
          <a:lstStyle/>
          <a:p>
            <a:fld id="{879B03D1-D577-4587-B01C-F506E694E506}" type="slidenum">
              <a:rPr lang="en-US" smtClean="0"/>
              <a:t>8</a:t>
            </a:fld>
            <a:endParaRPr lang="en-US"/>
          </a:p>
        </p:txBody>
      </p:sp>
    </p:spTree>
    <p:extLst>
      <p:ext uri="{BB962C8B-B14F-4D97-AF65-F5344CB8AC3E}">
        <p14:creationId xmlns:p14="http://schemas.microsoft.com/office/powerpoint/2010/main" val="16841230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229E0E-5524-DE9B-3755-08E95D804411}"/>
              </a:ext>
            </a:extLst>
          </p:cNvPr>
          <p:cNvSpPr>
            <a:spLocks noGrp="1"/>
          </p:cNvSpPr>
          <p:nvPr>
            <p:ph type="title"/>
          </p:nvPr>
        </p:nvSpPr>
        <p:spPr>
          <a:xfrm>
            <a:off x="762000" y="119591"/>
            <a:ext cx="10591800" cy="659341"/>
          </a:xfrm>
        </p:spPr>
        <p:txBody>
          <a:bodyPr>
            <a:normAutofit/>
          </a:bodyPr>
          <a:lstStyle/>
          <a:p>
            <a:pPr algn="ctr"/>
            <a:r>
              <a:rPr lang="en-US" sz="3600" dirty="0">
                <a:latin typeface="Times New Roman" panose="02020603050405020304" pitchFamily="18" charset="0"/>
                <a:cs typeface="Times New Roman" panose="02020603050405020304" pitchFamily="18" charset="0"/>
              </a:rPr>
              <a:t>Heatmap of Top DEGs</a:t>
            </a:r>
          </a:p>
        </p:txBody>
      </p:sp>
      <p:pic>
        <p:nvPicPr>
          <p:cNvPr id="5" name="Content Placeholder 4">
            <a:extLst>
              <a:ext uri="{FF2B5EF4-FFF2-40B4-BE49-F238E27FC236}">
                <a16:creationId xmlns:a16="http://schemas.microsoft.com/office/drawing/2014/main" id="{B3BC7A82-05E0-FE83-0BAB-93D451A5A52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47800" y="970492"/>
            <a:ext cx="9419554" cy="3940175"/>
          </a:xfrm>
          <a:prstGeom prst="rect">
            <a:avLst/>
          </a:prstGeom>
        </p:spPr>
      </p:pic>
      <p:sp>
        <p:nvSpPr>
          <p:cNvPr id="6" name="TextBox 5">
            <a:extLst>
              <a:ext uri="{FF2B5EF4-FFF2-40B4-BE49-F238E27FC236}">
                <a16:creationId xmlns:a16="http://schemas.microsoft.com/office/drawing/2014/main" id="{E1A3AEB1-56FC-2A5C-04F7-2B0A7831017B}"/>
              </a:ext>
            </a:extLst>
          </p:cNvPr>
          <p:cNvSpPr txBox="1"/>
          <p:nvPr/>
        </p:nvSpPr>
        <p:spPr>
          <a:xfrm>
            <a:off x="762000" y="5533565"/>
            <a:ext cx="10928531" cy="707886"/>
          </a:xfrm>
          <a:prstGeom prst="rect">
            <a:avLst/>
          </a:prstGeom>
          <a:noFill/>
        </p:spPr>
        <p:txBody>
          <a:bodyPr wrap="square" rtlCol="0">
            <a:spAutoFit/>
          </a:bodyPr>
          <a:lstStyle/>
          <a:p>
            <a:pPr marL="285750" indent="-285750">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 heatmap shows clear clustering between HCM samples and donor controls, indicating distinct gene expression patterns associated with Hypertrophic Cardiomyopathy.</a:t>
            </a:r>
          </a:p>
        </p:txBody>
      </p:sp>
      <p:sp>
        <p:nvSpPr>
          <p:cNvPr id="8" name="Slide Number Placeholder 7">
            <a:extLst>
              <a:ext uri="{FF2B5EF4-FFF2-40B4-BE49-F238E27FC236}">
                <a16:creationId xmlns:a16="http://schemas.microsoft.com/office/drawing/2014/main" id="{93ACB664-BA47-FF55-C3DD-5F61EF68C12B}"/>
              </a:ext>
            </a:extLst>
          </p:cNvPr>
          <p:cNvSpPr>
            <a:spLocks noGrp="1"/>
          </p:cNvSpPr>
          <p:nvPr>
            <p:ph type="sldNum" sz="quarter" idx="12"/>
          </p:nvPr>
        </p:nvSpPr>
        <p:spPr/>
        <p:txBody>
          <a:bodyPr/>
          <a:lstStyle/>
          <a:p>
            <a:fld id="{879B03D1-D577-4587-B01C-F506E694E506}" type="slidenum">
              <a:rPr lang="en-US" smtClean="0"/>
              <a:t>9</a:t>
            </a:fld>
            <a:endParaRPr lang="en-US"/>
          </a:p>
        </p:txBody>
      </p:sp>
    </p:spTree>
    <p:extLst>
      <p:ext uri="{BB962C8B-B14F-4D97-AF65-F5344CB8AC3E}">
        <p14:creationId xmlns:p14="http://schemas.microsoft.com/office/powerpoint/2010/main" val="30274869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6F484A-BB2C-FBE5-1ADF-811B932518B4}"/>
              </a:ext>
            </a:extLst>
          </p:cNvPr>
          <p:cNvSpPr>
            <a:spLocks noGrp="1"/>
          </p:cNvSpPr>
          <p:nvPr>
            <p:ph type="title"/>
          </p:nvPr>
        </p:nvSpPr>
        <p:spPr>
          <a:xfrm>
            <a:off x="829732" y="76200"/>
            <a:ext cx="10659533" cy="659342"/>
          </a:xfrm>
        </p:spPr>
        <p:txBody>
          <a:bodyPr>
            <a:normAutofit/>
          </a:bodyPr>
          <a:lstStyle/>
          <a:p>
            <a:pPr algn="ctr"/>
            <a:r>
              <a:rPr lang="en-US" sz="3600" dirty="0">
                <a:latin typeface="Times New Roman" panose="02020603050405020304" pitchFamily="18" charset="0"/>
                <a:cs typeface="Times New Roman" panose="02020603050405020304" pitchFamily="18" charset="0"/>
              </a:rPr>
              <a:t>Top Differentially Expressed Genes</a:t>
            </a:r>
          </a:p>
        </p:txBody>
      </p:sp>
      <p:pic>
        <p:nvPicPr>
          <p:cNvPr id="5" name="Content Placeholder 4">
            <a:extLst>
              <a:ext uri="{FF2B5EF4-FFF2-40B4-BE49-F238E27FC236}">
                <a16:creationId xmlns:a16="http://schemas.microsoft.com/office/drawing/2014/main" id="{784423D2-A1CF-4EC9-C8E3-F292519E4E5B}"/>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390962" y="887942"/>
            <a:ext cx="9736401" cy="4024404"/>
          </a:xfrm>
          <a:prstGeom prst="rect">
            <a:avLst/>
          </a:prstGeom>
        </p:spPr>
      </p:pic>
      <p:sp>
        <p:nvSpPr>
          <p:cNvPr id="6" name="TextBox 5">
            <a:extLst>
              <a:ext uri="{FF2B5EF4-FFF2-40B4-BE49-F238E27FC236}">
                <a16:creationId xmlns:a16="http://schemas.microsoft.com/office/drawing/2014/main" id="{3109B0B3-526E-A8EF-D549-C8167263BCB8}"/>
              </a:ext>
            </a:extLst>
          </p:cNvPr>
          <p:cNvSpPr txBox="1"/>
          <p:nvPr/>
        </p:nvSpPr>
        <p:spPr>
          <a:xfrm>
            <a:off x="829732" y="5598885"/>
            <a:ext cx="10858862" cy="707886"/>
          </a:xfrm>
          <a:prstGeom prst="rect">
            <a:avLst/>
          </a:prstGeom>
          <a:noFill/>
        </p:spPr>
        <p:txBody>
          <a:bodyPr wrap="square" rtlCol="0">
            <a:spAutoFit/>
          </a:bodyPr>
          <a:lstStyle/>
          <a:p>
            <a:pPr marL="342900" indent="-342900">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 </a:t>
            </a:r>
            <a:r>
              <a:rPr lang="en-US" sz="2000" dirty="0" err="1">
                <a:latin typeface="Times New Roman" panose="02020603050405020304" pitchFamily="18" charset="0"/>
                <a:cs typeface="Times New Roman" panose="02020603050405020304" pitchFamily="18" charset="0"/>
              </a:rPr>
              <a:t>Barplot</a:t>
            </a:r>
            <a:r>
              <a:rPr lang="en-US" sz="2000" dirty="0">
                <a:latin typeface="Times New Roman" panose="02020603050405020304" pitchFamily="18" charset="0"/>
                <a:cs typeface="Times New Roman" panose="02020603050405020304" pitchFamily="18" charset="0"/>
              </a:rPr>
              <a:t> show strong expression differences between HCM and normal samples and may play roles in cardiac remodeling, signaling pathways, and extracellular matrix regulation.</a:t>
            </a:r>
          </a:p>
        </p:txBody>
      </p:sp>
      <p:sp>
        <p:nvSpPr>
          <p:cNvPr id="8" name="Slide Number Placeholder 7">
            <a:extLst>
              <a:ext uri="{FF2B5EF4-FFF2-40B4-BE49-F238E27FC236}">
                <a16:creationId xmlns:a16="http://schemas.microsoft.com/office/drawing/2014/main" id="{89D84CC4-EE5C-26ED-D477-49BC31E0FA9C}"/>
              </a:ext>
            </a:extLst>
          </p:cNvPr>
          <p:cNvSpPr>
            <a:spLocks noGrp="1"/>
          </p:cNvSpPr>
          <p:nvPr>
            <p:ph type="sldNum" sz="quarter" idx="12"/>
          </p:nvPr>
        </p:nvSpPr>
        <p:spPr/>
        <p:txBody>
          <a:bodyPr/>
          <a:lstStyle/>
          <a:p>
            <a:fld id="{879B03D1-D577-4587-B01C-F506E694E506}" type="slidenum">
              <a:rPr lang="en-US" smtClean="0"/>
              <a:t>10</a:t>
            </a:fld>
            <a:endParaRPr lang="en-US"/>
          </a:p>
        </p:txBody>
      </p:sp>
    </p:spTree>
    <p:extLst>
      <p:ext uri="{BB962C8B-B14F-4D97-AF65-F5344CB8AC3E}">
        <p14:creationId xmlns:p14="http://schemas.microsoft.com/office/powerpoint/2010/main" val="27346920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CAF47C-8BE7-56E0-D018-C2D211F720B5}"/>
              </a:ext>
            </a:extLst>
          </p:cNvPr>
          <p:cNvSpPr>
            <a:spLocks noGrp="1"/>
          </p:cNvSpPr>
          <p:nvPr>
            <p:ph type="title"/>
          </p:nvPr>
        </p:nvSpPr>
        <p:spPr>
          <a:xfrm>
            <a:off x="36215" y="59267"/>
            <a:ext cx="11977985" cy="964671"/>
          </a:xfrm>
        </p:spPr>
        <p:txBody>
          <a:bodyPr>
            <a:normAutofit/>
          </a:bodyPr>
          <a:lstStyle/>
          <a:p>
            <a:pPr algn="ctr"/>
            <a:r>
              <a:rPr lang="en-US" sz="3600" dirty="0">
                <a:latin typeface="Times New Roman" panose="02020603050405020304" pitchFamily="18" charset="0"/>
                <a:cs typeface="Times New Roman" panose="02020603050405020304" pitchFamily="18" charset="0"/>
              </a:rPr>
              <a:t>Differential Gene Expression (MA Plot)</a:t>
            </a:r>
          </a:p>
        </p:txBody>
      </p:sp>
      <p:pic>
        <p:nvPicPr>
          <p:cNvPr id="5" name="Content Placeholder 4">
            <a:extLst>
              <a:ext uri="{FF2B5EF4-FFF2-40B4-BE49-F238E27FC236}">
                <a16:creationId xmlns:a16="http://schemas.microsoft.com/office/drawing/2014/main" id="{E19994DE-8B9E-1019-9783-FF11DD05551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14967" y="918906"/>
            <a:ext cx="9762066" cy="4418880"/>
          </a:xfrm>
          <a:prstGeom prst="rect">
            <a:avLst/>
          </a:prstGeom>
        </p:spPr>
      </p:pic>
      <p:sp>
        <p:nvSpPr>
          <p:cNvPr id="6" name="TextBox 5">
            <a:extLst>
              <a:ext uri="{FF2B5EF4-FFF2-40B4-BE49-F238E27FC236}">
                <a16:creationId xmlns:a16="http://schemas.microsoft.com/office/drawing/2014/main" id="{1074EE86-A3B7-1FBA-F02F-06153F28F6F5}"/>
              </a:ext>
            </a:extLst>
          </p:cNvPr>
          <p:cNvSpPr txBox="1"/>
          <p:nvPr/>
        </p:nvSpPr>
        <p:spPr>
          <a:xfrm rot="10800000" flipV="1">
            <a:off x="1016000" y="5578360"/>
            <a:ext cx="10583333" cy="1015663"/>
          </a:xfrm>
          <a:prstGeom prst="rect">
            <a:avLst/>
          </a:prstGeom>
          <a:noFill/>
        </p:spPr>
        <p:txBody>
          <a:bodyPr wrap="square" rtlCol="0">
            <a:spAutoFit/>
          </a:bodyPr>
          <a:lstStyle/>
          <a:p>
            <a:pPr marL="342900" indent="-342900">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 MA plot demonstrates the distribution of gene expression changes between HCM and control samples. A substantial number of genes show significant upregulation and downregulation, indicating transcriptional alterations associated with Hypertrophic Cardiomyopathy.</a:t>
            </a:r>
          </a:p>
        </p:txBody>
      </p:sp>
      <p:sp>
        <p:nvSpPr>
          <p:cNvPr id="8" name="Slide Number Placeholder 7">
            <a:extLst>
              <a:ext uri="{FF2B5EF4-FFF2-40B4-BE49-F238E27FC236}">
                <a16:creationId xmlns:a16="http://schemas.microsoft.com/office/drawing/2014/main" id="{7E005369-D260-3C67-726F-571888068776}"/>
              </a:ext>
            </a:extLst>
          </p:cNvPr>
          <p:cNvSpPr>
            <a:spLocks noGrp="1"/>
          </p:cNvSpPr>
          <p:nvPr>
            <p:ph type="sldNum" sz="quarter" idx="12"/>
          </p:nvPr>
        </p:nvSpPr>
        <p:spPr/>
        <p:txBody>
          <a:bodyPr/>
          <a:lstStyle/>
          <a:p>
            <a:fld id="{879B03D1-D577-4587-B01C-F506E694E506}" type="slidenum">
              <a:rPr lang="en-US" smtClean="0"/>
              <a:t>11</a:t>
            </a:fld>
            <a:endParaRPr lang="en-US"/>
          </a:p>
        </p:txBody>
      </p:sp>
    </p:spTree>
    <p:extLst>
      <p:ext uri="{BB962C8B-B14F-4D97-AF65-F5344CB8AC3E}">
        <p14:creationId xmlns:p14="http://schemas.microsoft.com/office/powerpoint/2010/main" val="20427834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9EB9FA-AB3E-D890-43CD-C34F8AA4C211}"/>
              </a:ext>
            </a:extLst>
          </p:cNvPr>
          <p:cNvSpPr>
            <a:spLocks noGrp="1"/>
          </p:cNvSpPr>
          <p:nvPr>
            <p:ph type="title"/>
          </p:nvPr>
        </p:nvSpPr>
        <p:spPr>
          <a:xfrm>
            <a:off x="876300" y="2659592"/>
            <a:ext cx="10439400" cy="769408"/>
          </a:xfrm>
        </p:spPr>
        <p:txBody>
          <a:bodyPr>
            <a:normAutofit fontScale="90000"/>
          </a:bodyPr>
          <a:lstStyle/>
          <a:p>
            <a:pPr algn="ctr"/>
            <a:r>
              <a:rPr lang="en-US" sz="3600" dirty="0">
                <a:latin typeface="Times New Roman" panose="02020603050405020304" pitchFamily="18" charset="0"/>
                <a:cs typeface="Times New Roman" panose="02020603050405020304" pitchFamily="18" charset="0"/>
              </a:rPr>
              <a:t>KEGG PATHWAY ENRICHMENT ANALYSIS </a:t>
            </a:r>
            <a:br>
              <a:rPr lang="en-US" sz="3600" dirty="0">
                <a:latin typeface="Times New Roman" panose="02020603050405020304" pitchFamily="18" charset="0"/>
                <a:cs typeface="Times New Roman" panose="02020603050405020304" pitchFamily="18" charset="0"/>
              </a:rPr>
            </a:br>
            <a:br>
              <a:rPr lang="en-US" sz="3600" dirty="0">
                <a:latin typeface="Times New Roman" panose="02020603050405020304" pitchFamily="18" charset="0"/>
                <a:cs typeface="Times New Roman" panose="02020603050405020304" pitchFamily="18" charset="0"/>
              </a:rPr>
            </a:br>
            <a:r>
              <a:rPr lang="en-US" sz="3600" dirty="0">
                <a:latin typeface="Times New Roman" panose="02020603050405020304" pitchFamily="18" charset="0"/>
                <a:cs typeface="Times New Roman" panose="02020603050405020304" pitchFamily="18" charset="0"/>
              </a:rPr>
              <a:t>RESULTS</a:t>
            </a:r>
          </a:p>
        </p:txBody>
      </p:sp>
      <p:sp>
        <p:nvSpPr>
          <p:cNvPr id="5" name="Slide Number Placeholder 4">
            <a:extLst>
              <a:ext uri="{FF2B5EF4-FFF2-40B4-BE49-F238E27FC236}">
                <a16:creationId xmlns:a16="http://schemas.microsoft.com/office/drawing/2014/main" id="{BE4C30FC-DB19-DFFC-B72A-03D41B15A34E}"/>
              </a:ext>
            </a:extLst>
          </p:cNvPr>
          <p:cNvSpPr>
            <a:spLocks noGrp="1"/>
          </p:cNvSpPr>
          <p:nvPr>
            <p:ph type="sldNum" sz="quarter" idx="12"/>
          </p:nvPr>
        </p:nvSpPr>
        <p:spPr/>
        <p:txBody>
          <a:bodyPr/>
          <a:lstStyle/>
          <a:p>
            <a:fld id="{879B03D1-D577-4587-B01C-F506E694E506}" type="slidenum">
              <a:rPr lang="en-US" smtClean="0"/>
              <a:t>12</a:t>
            </a:fld>
            <a:endParaRPr lang="en-US"/>
          </a:p>
        </p:txBody>
      </p:sp>
    </p:spTree>
    <p:extLst>
      <p:ext uri="{BB962C8B-B14F-4D97-AF65-F5344CB8AC3E}">
        <p14:creationId xmlns:p14="http://schemas.microsoft.com/office/powerpoint/2010/main" val="1820412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D91895-2437-2D9F-B631-2035211A4719}"/>
              </a:ext>
            </a:extLst>
          </p:cNvPr>
          <p:cNvSpPr>
            <a:spLocks noGrp="1"/>
          </p:cNvSpPr>
          <p:nvPr>
            <p:ph type="title"/>
          </p:nvPr>
        </p:nvSpPr>
        <p:spPr>
          <a:xfrm>
            <a:off x="1083733" y="355599"/>
            <a:ext cx="10430933" cy="650875"/>
          </a:xfrm>
        </p:spPr>
        <p:txBody>
          <a:bodyPr>
            <a:normAutofit/>
          </a:bodyPr>
          <a:lstStyle/>
          <a:p>
            <a:r>
              <a:rPr lang="en-US" sz="3200" dirty="0">
                <a:latin typeface="Times New Roman" panose="02020603050405020304" pitchFamily="18" charset="0"/>
                <a:cs typeface="Times New Roman" panose="02020603050405020304" pitchFamily="18" charset="0"/>
              </a:rPr>
              <a:t>KEGG PATHWAY ENRICHMENT ANALYSIS</a:t>
            </a:r>
          </a:p>
        </p:txBody>
      </p:sp>
      <p:sp>
        <p:nvSpPr>
          <p:cNvPr id="3" name="Content Placeholder 2">
            <a:extLst>
              <a:ext uri="{FF2B5EF4-FFF2-40B4-BE49-F238E27FC236}">
                <a16:creationId xmlns:a16="http://schemas.microsoft.com/office/drawing/2014/main" id="{1D63AD34-2272-6056-0CF2-5D2DE8712249}"/>
              </a:ext>
            </a:extLst>
          </p:cNvPr>
          <p:cNvSpPr>
            <a:spLocks noGrp="1"/>
          </p:cNvSpPr>
          <p:nvPr>
            <p:ph idx="1"/>
          </p:nvPr>
        </p:nvSpPr>
        <p:spPr>
          <a:xfrm>
            <a:off x="482601" y="1507067"/>
            <a:ext cx="11260666" cy="4572000"/>
          </a:xfrm>
        </p:spPr>
        <p:txBody>
          <a:bodyPr>
            <a:normAutofit/>
          </a:bodyPr>
          <a:lstStyle/>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Functional enrichment analysis was performed using KEGG pathway enrichment analysis to identify biological pathways associated with the differentially expressed genes.</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 top enriched pathways include:</a:t>
            </a:r>
          </a:p>
          <a:p>
            <a:pPr>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Neuroactive ligand-receptor interaction</a:t>
            </a:r>
          </a:p>
          <a:p>
            <a:pPr>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Complement and coagulation cascades</a:t>
            </a:r>
          </a:p>
          <a:p>
            <a:pPr>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Neuroactive ligand signaling</a:t>
            </a:r>
          </a:p>
          <a:p>
            <a:pPr>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Cytoskeleton in muscle cells</a:t>
            </a:r>
          </a:p>
          <a:p>
            <a:pPr>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Calcium signaling pathway</a:t>
            </a:r>
          </a:p>
          <a:p>
            <a:pPr>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Integrin signaling</a:t>
            </a:r>
          </a:p>
          <a:p>
            <a:pPr>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ECM-receptor interaction</a:t>
            </a:r>
          </a:p>
          <a:p>
            <a:pPr>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Cytokine-cytokine receptor interaction</a:t>
            </a:r>
          </a:p>
          <a:p>
            <a:endParaRPr lang="en-US" sz="2000" dirty="0">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41246A12-140A-7AD8-3F18-C0F9DEC53187}"/>
              </a:ext>
            </a:extLst>
          </p:cNvPr>
          <p:cNvSpPr>
            <a:spLocks noGrp="1"/>
          </p:cNvSpPr>
          <p:nvPr>
            <p:ph type="sldNum" sz="quarter" idx="12"/>
          </p:nvPr>
        </p:nvSpPr>
        <p:spPr/>
        <p:txBody>
          <a:bodyPr/>
          <a:lstStyle/>
          <a:p>
            <a:fld id="{879B03D1-D577-4587-B01C-F506E694E506}" type="slidenum">
              <a:rPr lang="en-US" smtClean="0"/>
              <a:t>13</a:t>
            </a:fld>
            <a:endParaRPr lang="en-US"/>
          </a:p>
        </p:txBody>
      </p:sp>
    </p:spTree>
    <p:extLst>
      <p:ext uri="{BB962C8B-B14F-4D97-AF65-F5344CB8AC3E}">
        <p14:creationId xmlns:p14="http://schemas.microsoft.com/office/powerpoint/2010/main" val="12022476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E247D6-906E-FE30-E10A-03FE1F200E06}"/>
              </a:ext>
            </a:extLst>
          </p:cNvPr>
          <p:cNvSpPr>
            <a:spLocks noGrp="1"/>
          </p:cNvSpPr>
          <p:nvPr>
            <p:ph type="title"/>
          </p:nvPr>
        </p:nvSpPr>
        <p:spPr>
          <a:xfrm>
            <a:off x="838200" y="170393"/>
            <a:ext cx="10439400" cy="693208"/>
          </a:xfrm>
        </p:spPr>
        <p:txBody>
          <a:bodyPr>
            <a:normAutofit/>
          </a:bodyPr>
          <a:lstStyle/>
          <a:p>
            <a:pPr algn="ctr"/>
            <a:r>
              <a:rPr lang="en-US" sz="3200" dirty="0">
                <a:latin typeface="Times New Roman" panose="02020603050405020304" pitchFamily="18" charset="0"/>
                <a:cs typeface="Times New Roman" panose="02020603050405020304" pitchFamily="18" charset="0"/>
              </a:rPr>
              <a:t>Genes from Important Pathways</a:t>
            </a:r>
          </a:p>
        </p:txBody>
      </p:sp>
      <p:sp>
        <p:nvSpPr>
          <p:cNvPr id="3" name="Content Placeholder 2">
            <a:extLst>
              <a:ext uri="{FF2B5EF4-FFF2-40B4-BE49-F238E27FC236}">
                <a16:creationId xmlns:a16="http://schemas.microsoft.com/office/drawing/2014/main" id="{92C94229-7F11-A4DB-1A52-C3632BB78188}"/>
              </a:ext>
            </a:extLst>
          </p:cNvPr>
          <p:cNvSpPr>
            <a:spLocks noGrp="1"/>
          </p:cNvSpPr>
          <p:nvPr>
            <p:ph idx="1"/>
          </p:nvPr>
        </p:nvSpPr>
        <p:spPr>
          <a:xfrm>
            <a:off x="651933" y="1126066"/>
            <a:ext cx="10727267" cy="4940830"/>
          </a:xfrm>
        </p:spPr>
        <p:txBody>
          <a:bodyPr>
            <a:normAutofit/>
          </a:bodyPr>
          <a:lstStyle/>
          <a:p>
            <a:pPr>
              <a:buFont typeface="Wingdings" panose="05000000000000000000" pitchFamily="2" charset="2"/>
              <a:buChar char="ü"/>
            </a:pPr>
            <a:r>
              <a:rPr lang="en-US" sz="2000" b="1" dirty="0">
                <a:latin typeface="Times New Roman" panose="02020603050405020304" pitchFamily="18" charset="0"/>
                <a:cs typeface="Times New Roman" panose="02020603050405020304" pitchFamily="18" charset="0"/>
              </a:rPr>
              <a:t>Calcium Signaling Pathway:</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AGTR1, EDNRA, NOS2, ATP2A2, CAMK1G, RYR3, CACNA1B, CACNA1E.</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These genes are involved in cardiac muscle contraction and calcium regulation, which are critical for heart function.</a:t>
            </a:r>
          </a:p>
          <a:p>
            <a:pPr>
              <a:buFont typeface="Wingdings" panose="05000000000000000000" pitchFamily="2" charset="2"/>
              <a:buChar char="ü"/>
            </a:pPr>
            <a:r>
              <a:rPr lang="en-US" sz="2000" b="1" dirty="0">
                <a:latin typeface="Times New Roman" panose="02020603050405020304" pitchFamily="18" charset="0"/>
                <a:cs typeface="Times New Roman" panose="02020603050405020304" pitchFamily="18" charset="0"/>
              </a:rPr>
              <a:t>Cytoskeleton in Muscle Cells</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MYH2, MYH6, MYL1, MYL7, TNNT1, TNNT3, TPM3.</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These genes play essential roles in muscle contraction and structural organization of cardiac muscle fibers.</a:t>
            </a:r>
          </a:p>
          <a:p>
            <a:pPr>
              <a:buFont typeface="Wingdings" panose="05000000000000000000" pitchFamily="2" charset="2"/>
              <a:buChar char="ü"/>
            </a:pPr>
            <a:r>
              <a:rPr lang="en-US" sz="2000" b="1" dirty="0">
                <a:latin typeface="Times New Roman" panose="02020603050405020304" pitchFamily="18" charset="0"/>
                <a:cs typeface="Times New Roman" panose="02020603050405020304" pitchFamily="18" charset="0"/>
              </a:rPr>
              <a:t>ECM-Receptor Interaction</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COL9A1, COL9A2, FN1, THBS2, THBS4, ITGA7.</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These genes are associated with extracellular matrix remodeling, a process often observed in cardiac hypertrophy.</a:t>
            </a:r>
          </a:p>
          <a:p>
            <a:pPr marL="0" indent="0">
              <a:buNone/>
            </a:pPr>
            <a:endParaRPr lang="en-US" sz="2000" dirty="0">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FFA25D6E-C80B-C051-81F7-33629C525524}"/>
              </a:ext>
            </a:extLst>
          </p:cNvPr>
          <p:cNvSpPr>
            <a:spLocks noGrp="1"/>
          </p:cNvSpPr>
          <p:nvPr>
            <p:ph type="sldNum" sz="quarter" idx="12"/>
          </p:nvPr>
        </p:nvSpPr>
        <p:spPr/>
        <p:txBody>
          <a:bodyPr/>
          <a:lstStyle/>
          <a:p>
            <a:fld id="{879B03D1-D577-4587-B01C-F506E694E506}" type="slidenum">
              <a:rPr lang="en-US" smtClean="0"/>
              <a:t>14</a:t>
            </a:fld>
            <a:endParaRPr lang="en-US"/>
          </a:p>
        </p:txBody>
      </p:sp>
    </p:spTree>
    <p:extLst>
      <p:ext uri="{BB962C8B-B14F-4D97-AF65-F5344CB8AC3E}">
        <p14:creationId xmlns:p14="http://schemas.microsoft.com/office/powerpoint/2010/main" val="13472840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3F4CA4-B46A-1755-949A-033E05CFE212}"/>
              </a:ext>
            </a:extLst>
          </p:cNvPr>
          <p:cNvSpPr>
            <a:spLocks noGrp="1"/>
          </p:cNvSpPr>
          <p:nvPr>
            <p:ph type="title"/>
          </p:nvPr>
        </p:nvSpPr>
        <p:spPr>
          <a:xfrm>
            <a:off x="1066800" y="151108"/>
            <a:ext cx="10058400" cy="870035"/>
          </a:xfrm>
        </p:spPr>
        <p:txBody>
          <a:bodyPr>
            <a:normAutofit fontScale="90000"/>
          </a:bodyPr>
          <a:lstStyle/>
          <a:p>
            <a:pPr algn="ctr"/>
            <a:r>
              <a:rPr lang="en-US" sz="3200" dirty="0">
                <a:latin typeface="Times New Roman" panose="02020603050405020304" pitchFamily="18" charset="0"/>
                <a:cs typeface="Times New Roman" panose="02020603050405020304" pitchFamily="18" charset="0"/>
              </a:rPr>
              <a:t>KEGG PATHWAY ENRICHMENT ANALYSIS</a:t>
            </a: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 Bar Plot VISULAIZATION</a:t>
            </a:r>
            <a:endParaRPr lang="en-US" sz="3000" dirty="0">
              <a:latin typeface="Times New Roman" panose="02020603050405020304" pitchFamily="18" charset="0"/>
              <a:cs typeface="Times New Roman" panose="02020603050405020304" pitchFamily="18" charset="0"/>
            </a:endParaRPr>
          </a:p>
        </p:txBody>
      </p:sp>
      <p:pic>
        <p:nvPicPr>
          <p:cNvPr id="5" name="Content Placeholder 4">
            <a:extLst>
              <a:ext uri="{FF2B5EF4-FFF2-40B4-BE49-F238E27FC236}">
                <a16:creationId xmlns:a16="http://schemas.microsoft.com/office/drawing/2014/main" id="{B6445CC6-2FC7-51C7-2C36-4D95A0D181A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182791" y="1161182"/>
            <a:ext cx="7826418" cy="4381880"/>
          </a:xfrm>
          <a:prstGeom prst="rect">
            <a:avLst/>
          </a:prstGeom>
        </p:spPr>
      </p:pic>
      <p:sp>
        <p:nvSpPr>
          <p:cNvPr id="6" name="TextBox 5">
            <a:extLst>
              <a:ext uri="{FF2B5EF4-FFF2-40B4-BE49-F238E27FC236}">
                <a16:creationId xmlns:a16="http://schemas.microsoft.com/office/drawing/2014/main" id="{57B8686F-AE8F-AF28-D0B6-35F08A865D70}"/>
              </a:ext>
            </a:extLst>
          </p:cNvPr>
          <p:cNvSpPr txBox="1"/>
          <p:nvPr/>
        </p:nvSpPr>
        <p:spPr>
          <a:xfrm>
            <a:off x="448249" y="5683101"/>
            <a:ext cx="11032552" cy="1015663"/>
          </a:xfrm>
          <a:prstGeom prst="rect">
            <a:avLst/>
          </a:prstGeom>
          <a:noFill/>
        </p:spPr>
        <p:txBody>
          <a:bodyPr wrap="square" rtlCol="0">
            <a:spAutoFit/>
          </a:bodyPr>
          <a:lstStyle/>
          <a:p>
            <a:pPr marL="342900" indent="-342900">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These pathways related to cell signaling, extracellular matrix organization, and muscle structure were significantly enriched, suggesting their potential involvement in the molecular mechanisms of Hypertrophic Cardiomyopathy.</a:t>
            </a:r>
          </a:p>
        </p:txBody>
      </p:sp>
      <p:sp>
        <p:nvSpPr>
          <p:cNvPr id="8" name="Slide Number Placeholder 7">
            <a:extLst>
              <a:ext uri="{FF2B5EF4-FFF2-40B4-BE49-F238E27FC236}">
                <a16:creationId xmlns:a16="http://schemas.microsoft.com/office/drawing/2014/main" id="{CA8704DB-74D8-3549-881C-39C8A7A595D3}"/>
              </a:ext>
            </a:extLst>
          </p:cNvPr>
          <p:cNvSpPr>
            <a:spLocks noGrp="1"/>
          </p:cNvSpPr>
          <p:nvPr>
            <p:ph type="sldNum" sz="quarter" idx="12"/>
          </p:nvPr>
        </p:nvSpPr>
        <p:spPr/>
        <p:txBody>
          <a:bodyPr/>
          <a:lstStyle/>
          <a:p>
            <a:fld id="{879B03D1-D577-4587-B01C-F506E694E506}" type="slidenum">
              <a:rPr lang="en-US" smtClean="0"/>
              <a:t>15</a:t>
            </a:fld>
            <a:endParaRPr lang="en-US"/>
          </a:p>
        </p:txBody>
      </p:sp>
    </p:spTree>
    <p:extLst>
      <p:ext uri="{BB962C8B-B14F-4D97-AF65-F5344CB8AC3E}">
        <p14:creationId xmlns:p14="http://schemas.microsoft.com/office/powerpoint/2010/main" val="31698771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2A1C54-24E0-708C-C09E-F9E1B2E0996C}"/>
              </a:ext>
            </a:extLst>
          </p:cNvPr>
          <p:cNvSpPr>
            <a:spLocks noGrp="1"/>
          </p:cNvSpPr>
          <p:nvPr>
            <p:ph type="title"/>
          </p:nvPr>
        </p:nvSpPr>
        <p:spPr>
          <a:xfrm>
            <a:off x="1066800" y="457200"/>
            <a:ext cx="10058400" cy="548301"/>
          </a:xfrm>
        </p:spPr>
        <p:txBody>
          <a:bodyPr>
            <a:normAutofit/>
          </a:bodyPr>
          <a:lstStyle/>
          <a:p>
            <a:pPr algn="ctr"/>
            <a:r>
              <a:rPr lang="en-US" sz="3200" dirty="0">
                <a:latin typeface="Times New Roman"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id="{56A67CB0-A3ED-5E00-3F7F-703438EA2799}"/>
              </a:ext>
            </a:extLst>
          </p:cNvPr>
          <p:cNvSpPr>
            <a:spLocks noGrp="1"/>
          </p:cNvSpPr>
          <p:nvPr>
            <p:ph idx="1"/>
          </p:nvPr>
        </p:nvSpPr>
        <p:spPr>
          <a:xfrm>
            <a:off x="894419" y="1312333"/>
            <a:ext cx="10230781" cy="5088467"/>
          </a:xfrm>
        </p:spPr>
        <p:txBody>
          <a:bodyPr/>
          <a:lstStyle/>
          <a:p>
            <a:r>
              <a:rPr lang="en-US" dirty="0">
                <a:latin typeface="Times New Roman" panose="02020603050405020304" pitchFamily="18" charset="0"/>
                <a:cs typeface="Times New Roman" panose="02020603050405020304" pitchFamily="18" charset="0"/>
              </a:rPr>
              <a:t>In this study, gene expression data obtained from the Gene Expression Omnibus (GEO) database[ID: GSE180313] were analyzed to investigate transcriptional changes associated with Hypertrophic Cardiomyopathy.</a:t>
            </a:r>
          </a:p>
          <a:p>
            <a:r>
              <a:rPr lang="en-US" dirty="0">
                <a:latin typeface="Times New Roman" panose="02020603050405020304" pitchFamily="18" charset="0"/>
                <a:cs typeface="Times New Roman" panose="02020603050405020304" pitchFamily="18" charset="0"/>
              </a:rPr>
              <a:t>Differential gene expression analysis using the DESeq2 identified several significantly upregulated and downregulated genes between HCM and control samples. </a:t>
            </a:r>
          </a:p>
          <a:p>
            <a:r>
              <a:rPr lang="en-US" dirty="0">
                <a:latin typeface="Times New Roman" panose="02020603050405020304" pitchFamily="18" charset="0"/>
                <a:cs typeface="Times New Roman" panose="02020603050405020304" pitchFamily="18" charset="0"/>
              </a:rPr>
              <a:t>Visualization techniques such as volcano plots, MA plots, and heatmaps revealed clear differences in gene expression patterns between the two groups.</a:t>
            </a:r>
          </a:p>
          <a:p>
            <a:r>
              <a:rPr lang="en-US" dirty="0">
                <a:latin typeface="Times New Roman" panose="02020603050405020304" pitchFamily="18" charset="0"/>
                <a:cs typeface="Times New Roman" panose="02020603050405020304" pitchFamily="18" charset="0"/>
              </a:rPr>
              <a:t>The top differentially expressed genes, including SEZ6L, IRX1, IRX2, SCUBE2, and MDK, showed strong upregulation, while genes such as SERPINA3, FCN3, and LCN6 were significantly downregulated. These genes may play important roles in the molecular mechanisms underlying HCM.</a:t>
            </a:r>
          </a:p>
          <a:p>
            <a:endParaRPr lang="en-US" dirty="0">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DDE9C6BD-B706-5084-3576-23CB183EEFE6}"/>
              </a:ext>
            </a:extLst>
          </p:cNvPr>
          <p:cNvSpPr>
            <a:spLocks noGrp="1"/>
          </p:cNvSpPr>
          <p:nvPr>
            <p:ph type="sldNum" sz="quarter" idx="12"/>
          </p:nvPr>
        </p:nvSpPr>
        <p:spPr/>
        <p:txBody>
          <a:bodyPr/>
          <a:lstStyle/>
          <a:p>
            <a:fld id="{879B03D1-D577-4587-B01C-F506E694E506}" type="slidenum">
              <a:rPr lang="en-US" smtClean="0"/>
              <a:t>16</a:t>
            </a:fld>
            <a:endParaRPr lang="en-US"/>
          </a:p>
        </p:txBody>
      </p:sp>
    </p:spTree>
    <p:extLst>
      <p:ext uri="{BB962C8B-B14F-4D97-AF65-F5344CB8AC3E}">
        <p14:creationId xmlns:p14="http://schemas.microsoft.com/office/powerpoint/2010/main" val="37413595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AA9CE28-4D74-9F92-69E1-BE088D84695D}"/>
              </a:ext>
            </a:extLst>
          </p:cNvPr>
          <p:cNvSpPr>
            <a:spLocks noGrp="1"/>
          </p:cNvSpPr>
          <p:nvPr>
            <p:ph idx="1"/>
          </p:nvPr>
        </p:nvSpPr>
        <p:spPr>
          <a:xfrm>
            <a:off x="677334" y="643466"/>
            <a:ext cx="10566400" cy="5190067"/>
          </a:xfrm>
        </p:spPr>
        <p:txBody>
          <a:bodyPr/>
          <a:lstStyle/>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Functional enrichment analysis using KEGG pathway enrichment analysis revealed several significantly enriched pathways, including:</a:t>
            </a:r>
          </a:p>
          <a:p>
            <a:pPr>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Neuroactive ligand–receptor interaction</a:t>
            </a:r>
          </a:p>
          <a:p>
            <a:pPr>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Calcium signaling pathway</a:t>
            </a:r>
          </a:p>
          <a:p>
            <a:pPr>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Cytoskeleton organization in muscle cells</a:t>
            </a:r>
          </a:p>
          <a:p>
            <a:pPr>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ECM–receptor interaction</a:t>
            </a:r>
          </a:p>
          <a:p>
            <a:pPr>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Cytokine–cytokine receptor interaction</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These pathways are associated with cell signaling, muscle contraction, extracellular matrix remodeling, and inflammatory responses, which are key biological processes involved in cardiac hypertrophy and structural remodeling of the heart.</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Overall, this study highlights important genes and biological pathways that may contribute to the pathogenesis of Hypertrophic Cardiomyopathy, providing insights into the molecular mechanisms of the disease and potential targets for further investigation.</a:t>
            </a:r>
          </a:p>
          <a:p>
            <a:pPr marL="0" indent="0">
              <a:buNone/>
            </a:pPr>
            <a:endParaRPr lang="en-US" dirty="0">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5DB2F792-E0DF-6C6A-E204-F357E2D771DB}"/>
              </a:ext>
            </a:extLst>
          </p:cNvPr>
          <p:cNvSpPr>
            <a:spLocks noGrp="1"/>
          </p:cNvSpPr>
          <p:nvPr>
            <p:ph type="sldNum" sz="quarter" idx="12"/>
          </p:nvPr>
        </p:nvSpPr>
        <p:spPr/>
        <p:txBody>
          <a:bodyPr/>
          <a:lstStyle/>
          <a:p>
            <a:fld id="{879B03D1-D577-4587-B01C-F506E694E506}" type="slidenum">
              <a:rPr lang="en-US" smtClean="0"/>
              <a:t>17</a:t>
            </a:fld>
            <a:endParaRPr lang="en-US"/>
          </a:p>
        </p:txBody>
      </p:sp>
    </p:spTree>
    <p:extLst>
      <p:ext uri="{BB962C8B-B14F-4D97-AF65-F5344CB8AC3E}">
        <p14:creationId xmlns:p14="http://schemas.microsoft.com/office/powerpoint/2010/main" val="548436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193B81-C1BE-BCD2-6B16-0B6BCDBF7A7F}"/>
              </a:ext>
            </a:extLst>
          </p:cNvPr>
          <p:cNvSpPr>
            <a:spLocks noGrp="1"/>
          </p:cNvSpPr>
          <p:nvPr>
            <p:ph type="title"/>
          </p:nvPr>
        </p:nvSpPr>
        <p:spPr>
          <a:xfrm>
            <a:off x="1069848" y="484632"/>
            <a:ext cx="10080752" cy="1005501"/>
          </a:xfrm>
        </p:spPr>
        <p:txBody>
          <a:bodyPr>
            <a:normAutofit/>
          </a:bodyPr>
          <a:lstStyle/>
          <a:p>
            <a:pPr algn="ctr"/>
            <a:r>
              <a:rPr lang="en-US" sz="3200" dirty="0">
                <a:latin typeface="Times New Roman" panose="02020603050405020304" pitchFamily="18" charset="0"/>
                <a:cs typeface="Times New Roman" panose="02020603050405020304" pitchFamily="18" charset="0"/>
              </a:rPr>
              <a:t>REFERENCE</a:t>
            </a:r>
          </a:p>
        </p:txBody>
      </p:sp>
      <p:sp>
        <p:nvSpPr>
          <p:cNvPr id="3" name="Content Placeholder 2">
            <a:extLst>
              <a:ext uri="{FF2B5EF4-FFF2-40B4-BE49-F238E27FC236}">
                <a16:creationId xmlns:a16="http://schemas.microsoft.com/office/drawing/2014/main" id="{F96D4D88-8756-9BA4-CA69-E4DC623AFE81}"/>
              </a:ext>
            </a:extLst>
          </p:cNvPr>
          <p:cNvSpPr>
            <a:spLocks noGrp="1"/>
          </p:cNvSpPr>
          <p:nvPr>
            <p:ph idx="1"/>
          </p:nvPr>
        </p:nvSpPr>
        <p:spPr>
          <a:xfrm>
            <a:off x="372533" y="1566334"/>
            <a:ext cx="11599334" cy="4597400"/>
          </a:xfrm>
        </p:spPr>
        <p:txBody>
          <a:bodyPr>
            <a:noAutofit/>
          </a:bodyPr>
          <a:lstStyle/>
          <a:p>
            <a:r>
              <a:rPr lang="en-US" dirty="0">
                <a:latin typeface="Times New Roman" panose="02020603050405020304" pitchFamily="18" charset="0"/>
                <a:cs typeface="Times New Roman" panose="02020603050405020304" pitchFamily="18" charset="0"/>
              </a:rPr>
              <a:t>Transcriptomic Analyses and Experimental Validation Identified Immune‑Related lncRNA–mRNA Pair MIR210HG–BPIFC Regulating the Progression of Hypertrophic Cardiomyopathy International Journal of Molecular Sciences, 2024.</a:t>
            </a:r>
          </a:p>
          <a:p>
            <a:r>
              <a:rPr lang="en-US" dirty="0">
                <a:latin typeface="Times New Roman" panose="02020603050405020304" pitchFamily="18" charset="0"/>
                <a:cs typeface="Times New Roman" panose="02020603050405020304" pitchFamily="18" charset="0"/>
              </a:rPr>
              <a:t>Integration of Transcriptomic Data Identifies Key Hallmark Genes in Hypertrophic Cardiomyopathy BMC Cardiovascular Disorders, 2021.</a:t>
            </a:r>
          </a:p>
          <a:p>
            <a:r>
              <a:rPr lang="en-US" dirty="0">
                <a:latin typeface="Times New Roman" panose="02020603050405020304" pitchFamily="18" charset="0"/>
                <a:cs typeface="Times New Roman" panose="02020603050405020304" pitchFamily="18" charset="0"/>
              </a:rPr>
              <a:t>Transcriptomic Analysis and Machine Learning Modeling Identifies Novel Biomarkers and Genetic Characteristics of Hypertrophic Cardiomyopathy Frontiers in Genetics, 2025.</a:t>
            </a:r>
          </a:p>
          <a:p>
            <a:r>
              <a:rPr lang="en-US" dirty="0">
                <a:latin typeface="Times New Roman" panose="02020603050405020304" pitchFamily="18" charset="0"/>
                <a:cs typeface="Times New Roman" panose="02020603050405020304" pitchFamily="18" charset="0"/>
              </a:rPr>
              <a:t>A Personalized mRNA Signature for Predicting Hypertrophic Cardiomyopathy Applying Machine Learning Methods</a:t>
            </a:r>
          </a:p>
          <a:p>
            <a:r>
              <a:rPr lang="en-US" dirty="0">
                <a:latin typeface="Times New Roman" panose="02020603050405020304" pitchFamily="18" charset="0"/>
                <a:cs typeface="Times New Roman" panose="02020603050405020304" pitchFamily="18" charset="0"/>
              </a:rPr>
              <a:t>Transcriptome Analysis of Human Hypertrophic Cardiomyopathy Reveals Inhibited Cardiac Development Pathways in Children </a:t>
            </a:r>
            <a:r>
              <a:rPr lang="en-US" dirty="0" err="1">
                <a:latin typeface="Times New Roman" panose="02020603050405020304" pitchFamily="18" charset="0"/>
                <a:cs typeface="Times New Roman" panose="02020603050405020304" pitchFamily="18" charset="0"/>
              </a:rPr>
              <a:t>iScience</a:t>
            </a:r>
            <a:r>
              <a:rPr lang="en-US" dirty="0">
                <a:latin typeface="Times New Roman" panose="02020603050405020304" pitchFamily="18" charset="0"/>
                <a:cs typeface="Times New Roman" panose="02020603050405020304" pitchFamily="18" charset="0"/>
              </a:rPr>
              <a:t>, 2023.</a:t>
            </a:r>
          </a:p>
          <a:p>
            <a:pPr marL="0" indent="0">
              <a:buNone/>
            </a:pPr>
            <a:endParaRPr lang="en-US" dirty="0">
              <a:latin typeface="Times New Roman" panose="02020603050405020304" pitchFamily="18" charset="0"/>
              <a:cs typeface="Times New Roman" panose="02020603050405020304" pitchFamily="18" charset="0"/>
            </a:endParaRPr>
          </a:p>
        </p:txBody>
      </p:sp>
      <p:sp>
        <p:nvSpPr>
          <p:cNvPr id="7" name="Slide Number Placeholder 6">
            <a:extLst>
              <a:ext uri="{FF2B5EF4-FFF2-40B4-BE49-F238E27FC236}">
                <a16:creationId xmlns:a16="http://schemas.microsoft.com/office/drawing/2014/main" id="{E65E7CB2-3072-F140-789C-68A1ADC36FD6}"/>
              </a:ext>
            </a:extLst>
          </p:cNvPr>
          <p:cNvSpPr>
            <a:spLocks noGrp="1"/>
          </p:cNvSpPr>
          <p:nvPr>
            <p:ph type="sldNum" sz="quarter" idx="12"/>
          </p:nvPr>
        </p:nvSpPr>
        <p:spPr/>
        <p:txBody>
          <a:bodyPr/>
          <a:lstStyle/>
          <a:p>
            <a:fld id="{879B03D1-D577-4587-B01C-F506E694E506}" type="slidenum">
              <a:rPr lang="en-US" smtClean="0"/>
              <a:t>18</a:t>
            </a:fld>
            <a:endParaRPr lang="en-US"/>
          </a:p>
        </p:txBody>
      </p:sp>
    </p:spTree>
    <p:extLst>
      <p:ext uri="{BB962C8B-B14F-4D97-AF65-F5344CB8AC3E}">
        <p14:creationId xmlns:p14="http://schemas.microsoft.com/office/powerpoint/2010/main" val="27174438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C222718-D8A5-FA5B-EAD0-379D32D1133E}"/>
              </a:ext>
            </a:extLst>
          </p:cNvPr>
          <p:cNvSpPr>
            <a:spLocks noGrp="1"/>
          </p:cNvSpPr>
          <p:nvPr>
            <p:ph idx="1"/>
          </p:nvPr>
        </p:nvSpPr>
        <p:spPr>
          <a:xfrm>
            <a:off x="440267" y="254001"/>
            <a:ext cx="11362266" cy="5918200"/>
          </a:xfrm>
        </p:spPr>
        <p:txBody>
          <a:bodyPr/>
          <a:lstStyle/>
          <a:p>
            <a:pPr marL="0" indent="0">
              <a:buNone/>
            </a:pP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Characterization of the Circulating Transcriptome Expression Profile and Identification of Novel miRNA Biomarkers in Hypertrophic Cardiomyopathy European Journal of Medical Research, 2023.</a:t>
            </a:r>
          </a:p>
          <a:p>
            <a:r>
              <a:rPr lang="en-US" dirty="0">
                <a:latin typeface="Times New Roman" panose="02020603050405020304" pitchFamily="18" charset="0"/>
                <a:cs typeface="Times New Roman" panose="02020603050405020304" pitchFamily="18" charset="0"/>
              </a:rPr>
              <a:t>Whole‑Exome Sequencing Reveals Mutational Signature of Hypertrophic Cardiomyopathy International Journal of General Medicine, 2023.</a:t>
            </a:r>
          </a:p>
          <a:p>
            <a:r>
              <a:rPr lang="en-US" dirty="0">
                <a:latin typeface="Times New Roman" panose="02020603050405020304" pitchFamily="18" charset="0"/>
                <a:cs typeface="Times New Roman" panose="02020603050405020304" pitchFamily="18" charset="0"/>
              </a:rPr>
              <a:t>Transcriptomic Profiling Reveals Molecular Mechanisms and Biomarkers in Hypertrophic Cardiomyopathy Frontiers in Cardiovascular Medicine, 2022.</a:t>
            </a:r>
          </a:p>
          <a:p>
            <a:r>
              <a:rPr lang="en-US" dirty="0">
                <a:latin typeface="Times New Roman" panose="02020603050405020304" pitchFamily="18" charset="0"/>
                <a:cs typeface="Times New Roman" panose="02020603050405020304" pitchFamily="18" charset="0"/>
              </a:rPr>
              <a:t>Identification of Key Genes and Pathways Associated with Hypertrophic Cardiomyopathy by Integrated Bioinformatics Analysis BioMed Research International, 2022.</a:t>
            </a:r>
          </a:p>
          <a:p>
            <a:r>
              <a:rPr lang="en-US" dirty="0">
                <a:latin typeface="Times New Roman" panose="02020603050405020304" pitchFamily="18" charset="0"/>
                <a:cs typeface="Times New Roman" panose="02020603050405020304" pitchFamily="18" charset="0"/>
              </a:rPr>
              <a:t>Identification of Differentially Expressed Genes and Key Pathways in Hypertrophic Cardiomyopathy Using Bioinformatics Analysis Journal of Cellular and Molecular Medicine, 2021.</a:t>
            </a:r>
          </a:p>
        </p:txBody>
      </p:sp>
      <p:sp>
        <p:nvSpPr>
          <p:cNvPr id="5" name="Slide Number Placeholder 4">
            <a:extLst>
              <a:ext uri="{FF2B5EF4-FFF2-40B4-BE49-F238E27FC236}">
                <a16:creationId xmlns:a16="http://schemas.microsoft.com/office/drawing/2014/main" id="{139DF9CE-4A8F-4433-3768-1F4708BF0C24}"/>
              </a:ext>
            </a:extLst>
          </p:cNvPr>
          <p:cNvSpPr>
            <a:spLocks noGrp="1"/>
          </p:cNvSpPr>
          <p:nvPr>
            <p:ph type="sldNum" sz="quarter" idx="12"/>
          </p:nvPr>
        </p:nvSpPr>
        <p:spPr/>
        <p:txBody>
          <a:bodyPr/>
          <a:lstStyle/>
          <a:p>
            <a:fld id="{879B03D1-D577-4587-B01C-F506E694E506}" type="slidenum">
              <a:rPr lang="en-US" smtClean="0"/>
              <a:t>19</a:t>
            </a:fld>
            <a:endParaRPr lang="en-US"/>
          </a:p>
        </p:txBody>
      </p:sp>
    </p:spTree>
    <p:extLst>
      <p:ext uri="{BB962C8B-B14F-4D97-AF65-F5344CB8AC3E}">
        <p14:creationId xmlns:p14="http://schemas.microsoft.com/office/powerpoint/2010/main" val="35140455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887DC8-76C8-25C8-44F6-563D0BE00F8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E63FFFC-484F-2E77-338C-246C9A609F1E}"/>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899E340F-ECAD-2B0B-2E56-6596BA91B862}"/>
              </a:ext>
            </a:extLst>
          </p:cNvPr>
          <p:cNvSpPr>
            <a:spLocks noGrp="1"/>
          </p:cNvSpPr>
          <p:nvPr>
            <p:ph type="sldNum" sz="quarter" idx="12"/>
          </p:nvPr>
        </p:nvSpPr>
        <p:spPr/>
        <p:txBody>
          <a:bodyPr/>
          <a:lstStyle/>
          <a:p>
            <a:fld id="{879B03D1-D577-4587-B01C-F506E694E506}" type="slidenum">
              <a:rPr lang="en-US" smtClean="0"/>
              <a:t>20</a:t>
            </a:fld>
            <a:endParaRPr lang="en-US"/>
          </a:p>
        </p:txBody>
      </p:sp>
      <p:pic>
        <p:nvPicPr>
          <p:cNvPr id="5" name="Picture 4">
            <a:extLst>
              <a:ext uri="{FF2B5EF4-FFF2-40B4-BE49-F238E27FC236}">
                <a16:creationId xmlns:a16="http://schemas.microsoft.com/office/drawing/2014/main" id="{92E312EA-B292-5D6D-927A-44292FD0E4D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94105282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TM03090434[[fn=Wood Type]]</Template>
  <TotalTime>292</TotalTime>
  <Words>1297</Words>
  <Application>Microsoft Office PowerPoint</Application>
  <PresentationFormat>Widescreen</PresentationFormat>
  <Paragraphs>178</Paragraphs>
  <Slides>20</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Calibri</vt:lpstr>
      <vt:lpstr>Rockwell</vt:lpstr>
      <vt:lpstr>Rockwell Condensed</vt:lpstr>
      <vt:lpstr>Times New Roman</vt:lpstr>
      <vt:lpstr>Wingdings</vt:lpstr>
      <vt:lpstr>Wood Type</vt:lpstr>
      <vt:lpstr>Computational Identification of Differentially Expressed Genes and Pathways Associated with Hypertrophic Cardiomyopathy Using R</vt:lpstr>
      <vt:lpstr>INTRODUCTION</vt:lpstr>
      <vt:lpstr>AIM &amp; OBJECTIVE</vt:lpstr>
      <vt:lpstr>METHODOLOGY</vt:lpstr>
      <vt:lpstr>DIFFERENTIALLY EXPRESSED GENES  RESULTS</vt:lpstr>
      <vt:lpstr>Differentially Expressed Genes in Hypertrophic Cardiomyopathy</vt:lpstr>
      <vt:lpstr>Highly Expressed Genes in Hypertrophic Cardiomyopathy</vt:lpstr>
      <vt:lpstr>Volcano Plot of Differentially Expressed Genes</vt:lpstr>
      <vt:lpstr>Heatmap of Top DEGs</vt:lpstr>
      <vt:lpstr>Top Differentially Expressed Genes</vt:lpstr>
      <vt:lpstr>Differential Gene Expression (MA Plot)</vt:lpstr>
      <vt:lpstr>KEGG PATHWAY ENRICHMENT ANALYSIS   RESULTS</vt:lpstr>
      <vt:lpstr>KEGG PATHWAY ENRICHMENT ANALYSIS</vt:lpstr>
      <vt:lpstr>Genes from Important Pathways</vt:lpstr>
      <vt:lpstr>KEGG PATHWAY ENRICHMENT ANALYSIS  Bar Plot VISULAIZATION</vt:lpstr>
      <vt:lpstr>CONCLUSION</vt:lpstr>
      <vt:lpstr>PowerPoint Presentation</vt:lpstr>
      <vt:lpstr>REFERENCE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Akshai kumar</dc:creator>
  <cp:lastModifiedBy>Akshai kumar</cp:lastModifiedBy>
  <cp:revision>17</cp:revision>
  <dcterms:created xsi:type="dcterms:W3CDTF">2026-03-12T12:41:53Z</dcterms:created>
  <dcterms:modified xsi:type="dcterms:W3CDTF">2026-03-13T02:50:27Z</dcterms:modified>
</cp:coreProperties>
</file>